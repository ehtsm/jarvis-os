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third line, not the first. The number to hold onto is not 27 or 88 — it is 3. Three critical gaps found, reproduced, measured, and deliberately not fixed because fixing them properly means building something new. Do not apologise for the 3; it is the credibility of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reading. This is the methodological claim the deck rests on. Most audit decks are code review dressed as evidence. We inverted it: reproduce from outside, quantify against live data, then open the source. That ordering is why we found a knowledge graph that had never been indexed — invisible in code, because the code was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why the deck can be trusted. State it flatly: seven of the thirty-four register rows have not been run and appear with an em-dash where the score would be. We could have put projected numbers there and the deck would look better. We did not, because the first person to check would find them, and then nothing else in here would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numbers, five seconds each. The third one is the one that matters — lead with it if the room is skeptical.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"Certified with limitations" means criteria were met and residual gaps were named — not a soft pass. Point at the single red block and do not move on too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average the 6 scored with the 29 unscored. That would be inventing a number, which is the exact failure this suite is built to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this slide replaces the entire findings section. Each pair is measured the same way before and after — that consistency is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Reframing three critical gaps as one remediation programme is both more honest and more reassuring. Three unrelated critical isolation bugs would suggest a systemic quality problem; one dated architectural debt with three known surfaces is a tractable engineering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slide — reference material. Do not read aloud. Offer it for the appendix and move on unless someone asks for a specific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slide — reference material. Do not read aloud. Offer it for the appendix and move on unless someone asks for a specific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slide — reference material. Do not read aloud. Offer it for the appendix and move on unless someone asks for a specific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entry criteria as the value here, not the audit names. B.20 cannot run until B.6's missing migration framework exists — we know that because B.6 measured its absence. The plan is derived from findings, not from a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tagline and stop. Do not re-summarize — the register is the artifact and it speaks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457200" y="4572000"/>
            <a:ext cx="2743200" cy="274320"/>
          </a:xfrm>
          <a:prstGeom prst="rect">
            <a:avLst/>
          </a:prstGeom>
          <a:noFill/>
          <a:ln/>
        </p:spPr>
        <p:txBody>
          <a:bodyPr wrap="square" rtlCol="0" anchor="ctr"/>
          <a:lstStyle/>
          <a:p>
            <a:pPr indent="0" marL="0">
              <a:buNone/>
            </a:pPr>
            <a:r>
              <a:rPr lang="en-US" sz="900" dirty="0">
                <a:solidFill>
                  <a:srgbClr val="FFFFFF">
                    <a:alpha val="60000"/>
                  </a:srgbClr>
                </a:solidFill>
              </a:rPr>
              <a:t>CONFIDENTIAL</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26280"/>
            <a:ext cx="8229600" cy="0"/>
          </a:xfrm>
          <a:prstGeom prst="line">
            <a:avLst/>
          </a:prstGeom>
          <a:noFill/>
          <a:ln w="9525">
            <a:solidFill>
              <a:srgbClr val="D8E0E7"/>
            </a:solidFill>
            <a:prstDash val="solid"/>
          </a:ln>
        </p:spPr>
      </p:sp>
      <p:sp>
        <p:nvSpPr>
          <p:cNvPr id="3" name="Text 1"/>
          <p:cNvSpPr/>
          <p:nvPr/>
        </p:nvSpPr>
        <p:spPr>
          <a:xfrm>
            <a:off x="457200" y="4590288"/>
            <a:ext cx="5486400" cy="256032"/>
          </a:xfrm>
          <a:prstGeom prst="rect">
            <a:avLst/>
          </a:prstGeom>
          <a:noFill/>
          <a:ln/>
        </p:spPr>
        <p:txBody>
          <a:bodyPr wrap="square" rtlCol="0" anchor="ctr"/>
          <a:lstStyle/>
          <a:p>
            <a:pPr indent="0" marL="0">
              <a:buNone/>
            </a:pPr>
            <a:r>
              <a:rPr lang="en-US" sz="800" dirty="0">
                <a:solidFill>
                  <a:srgbClr val="4A5C6D"/>
                </a:solidFill>
              </a:rPr>
              <a:t>Ooplix V1 Master Audit Record · OPX-MAR-001</a:t>
            </a:r>
            <a:endParaRPr lang="en-US" sz="8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371600"/>
            <a:ext cx="7863840" cy="82296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Ooplix V1</a:t>
            </a:r>
            <a:endParaRPr lang="en-US" sz="4800" dirty="0"/>
          </a:p>
        </p:txBody>
      </p:sp>
      <p:sp>
        <p:nvSpPr>
          <p:cNvPr id="3" name="Text 1"/>
          <p:cNvSpPr/>
          <p:nvPr/>
        </p:nvSpPr>
        <p:spPr>
          <a:xfrm>
            <a:off x="640080" y="2148840"/>
            <a:ext cx="7863840" cy="548640"/>
          </a:xfrm>
          <a:prstGeom prst="rect">
            <a:avLst/>
          </a:prstGeom>
          <a:noFill/>
          <a:ln/>
        </p:spPr>
        <p:txBody>
          <a:bodyPr wrap="square" rtlCol="0" anchor="ctr"/>
          <a:lstStyle/>
          <a:p>
            <a:pPr indent="0" marL="0">
              <a:buNone/>
            </a:pPr>
            <a:r>
              <a:rPr lang="en-US" sz="2600" dirty="0">
                <a:solidFill>
                  <a:srgbClr val="FFFFFF">
                    <a:alpha val="88000"/>
                  </a:srgbClr>
                </a:solidFill>
              </a:rPr>
              <a:t>Master Audit &amp; Certification Record</a:t>
            </a:r>
            <a:endParaRPr lang="en-US" sz="2600" dirty="0"/>
          </a:p>
        </p:txBody>
      </p:sp>
      <p:sp>
        <p:nvSpPr>
          <p:cNvPr id="4" name="Text 2"/>
          <p:cNvSpPr/>
          <p:nvPr/>
        </p:nvSpPr>
        <p:spPr>
          <a:xfrm>
            <a:off x="640080" y="2834640"/>
            <a:ext cx="7863840" cy="365760"/>
          </a:xfrm>
          <a:prstGeom prst="rect">
            <a:avLst/>
          </a:prstGeom>
          <a:noFill/>
          <a:ln/>
        </p:spPr>
        <p:txBody>
          <a:bodyPr wrap="square" rtlCol="0" anchor="ctr"/>
          <a:lstStyle/>
          <a:p>
            <a:pPr indent="0" marL="0">
              <a:buNone/>
            </a:pPr>
            <a:r>
              <a:rPr lang="en-US" sz="1400" dirty="0">
                <a:solidFill>
                  <a:srgbClr val="FFFFFF">
                    <a:alpha val="75000"/>
                  </a:srgbClr>
                </a:solidFill>
              </a:rPr>
              <a:t>31 audits executed · 116 findings recovered · 3 critical gaps recorded, not hidden</a:t>
            </a:r>
            <a:endParaRPr lang="en-US" sz="1400" dirty="0"/>
          </a:p>
        </p:txBody>
      </p:sp>
      <p:sp>
        <p:nvSpPr>
          <p:cNvPr id="5" name="Text 3"/>
          <p:cNvSpPr/>
          <p:nvPr/>
        </p:nvSpPr>
        <p:spPr>
          <a:xfrm>
            <a:off x="640080" y="3291840"/>
            <a:ext cx="7863840" cy="274320"/>
          </a:xfrm>
          <a:prstGeom prst="rect">
            <a:avLst/>
          </a:prstGeom>
          <a:noFill/>
          <a:ln/>
        </p:spPr>
        <p:txBody>
          <a:bodyPr wrap="square" rtlCol="0" anchor="ctr"/>
          <a:lstStyle/>
          <a:p>
            <a:pPr indent="0" marL="0">
              <a:buNone/>
            </a:pPr>
            <a:r>
              <a:rPr lang="en-US" sz="1100" dirty="0">
                <a:solidFill>
                  <a:srgbClr val="FFFFFF">
                    <a:alpha val="55000"/>
                  </a:srgbClr>
                </a:solidFill>
              </a:rPr>
              <a:t>1.0.0-rc1 · 2026-08-09</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1737360"/>
            <a:ext cx="7680960" cy="640080"/>
          </a:xfrm>
          <a:prstGeom prst="rect">
            <a:avLst/>
          </a:prstGeom>
          <a:noFill/>
          <a:ln/>
        </p:spPr>
        <p:txBody>
          <a:bodyPr wrap="square" rtlCol="0" anchor="ctr"/>
          <a:lstStyle/>
          <a:p>
            <a:pPr algn="ctr" indent="0" marL="0">
              <a:buNone/>
            </a:pPr>
            <a:r>
              <a:rPr lang="en-US" sz="2600" b="1" dirty="0">
                <a:solidFill>
                  <a:srgbClr val="0B1F33"/>
                </a:solidFill>
                <a:latin typeface="Georgia" pitchFamily="34" charset="0"/>
                <a:ea typeface="Georgia" pitchFamily="34" charset="-122"/>
                <a:cs typeface="Georgia" pitchFamily="34" charset="-120"/>
              </a:rPr>
              <a:t>We audited by operating the product, not by reading its source.</a:t>
            </a:r>
            <a:endParaRPr lang="en-US" sz="2600" dirty="0"/>
          </a:p>
        </p:txBody>
      </p:sp>
      <p:sp>
        <p:nvSpPr>
          <p:cNvPr id="3" name="Text 1"/>
          <p:cNvSpPr/>
          <p:nvPr/>
        </p:nvSpPr>
        <p:spPr>
          <a:xfrm>
            <a:off x="731520" y="2423160"/>
            <a:ext cx="7680960" cy="457200"/>
          </a:xfrm>
          <a:prstGeom prst="rect">
            <a:avLst/>
          </a:prstGeom>
          <a:noFill/>
          <a:ln/>
        </p:spPr>
        <p:txBody>
          <a:bodyPr wrap="square" rtlCol="0" anchor="ctr"/>
          <a:lstStyle/>
          <a:p>
            <a:pPr algn="ctr" indent="0" marL="0">
              <a:buNone/>
            </a:pPr>
            <a:r>
              <a:rPr lang="en-US" sz="2000" dirty="0">
                <a:solidFill>
                  <a:srgbClr val="4A5C6D"/>
                </a:solidFill>
              </a:rPr>
              <a:t>Every number in this deck is a measurement.</a:t>
            </a:r>
            <a:endParaRPr lang="en-US" sz="20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Evidence integrity</a:t>
            </a:r>
            <a:endParaRPr lang="en-US" sz="2400" dirty="0"/>
          </a:p>
        </p:txBody>
      </p:sp>
      <p:sp>
        <p:nvSpPr>
          <p:cNvPr id="3" name="Text 1"/>
          <p:cNvSpPr/>
          <p:nvPr/>
        </p:nvSpPr>
        <p:spPr>
          <a:xfrm>
            <a:off x="457200" y="841248"/>
            <a:ext cx="8229600" cy="292608"/>
          </a:xfrm>
          <a:prstGeom prst="rect">
            <a:avLst/>
          </a:prstGeom>
          <a:noFill/>
          <a:ln/>
        </p:spPr>
        <p:txBody>
          <a:bodyPr wrap="square" rtlCol="0" anchor="ctr"/>
          <a:lstStyle/>
          <a:p>
            <a:pPr indent="0" marL="0">
              <a:buNone/>
            </a:pPr>
            <a:r>
              <a:rPr lang="en-US" sz="1200" dirty="0">
                <a:solidFill>
                  <a:srgbClr val="4A5C6D"/>
                </a:solidFill>
              </a:rPr>
              <a:t>The split that makes everything else in this deck checkable</a:t>
            </a:r>
            <a:endParaRPr lang="en-US" sz="1200" dirty="0"/>
          </a:p>
        </p:txBody>
      </p:sp>
      <p:sp>
        <p:nvSpPr>
          <p:cNvPr id="4" name="Shape 2"/>
          <p:cNvSpPr/>
          <p:nvPr/>
        </p:nvSpPr>
        <p:spPr>
          <a:xfrm>
            <a:off x="457200" y="1325880"/>
            <a:ext cx="3977640" cy="2651760"/>
          </a:xfrm>
          <a:prstGeom prst="rect">
            <a:avLst/>
          </a:prstGeom>
          <a:solidFill>
            <a:srgbClr val="E8F3EC"/>
          </a:solidFill>
          <a:ln w="19050">
            <a:solidFill>
              <a:srgbClr val="0F9D58"/>
            </a:solidFill>
            <a:prstDash val="solid"/>
          </a:ln>
        </p:spPr>
      </p:sp>
      <p:sp>
        <p:nvSpPr>
          <p:cNvPr id="5" name="Text 3"/>
          <p:cNvSpPr/>
          <p:nvPr/>
        </p:nvSpPr>
        <p:spPr>
          <a:xfrm>
            <a:off x="685800" y="1508760"/>
            <a:ext cx="3566160" cy="320040"/>
          </a:xfrm>
          <a:prstGeom prst="rect">
            <a:avLst/>
          </a:prstGeom>
          <a:noFill/>
          <a:ln/>
        </p:spPr>
        <p:txBody>
          <a:bodyPr wrap="square" rtlCol="0" anchor="ctr"/>
          <a:lstStyle/>
          <a:p>
            <a:pPr indent="0" marL="0">
              <a:buNone/>
            </a:pPr>
            <a:r>
              <a:rPr lang="en-US" sz="1300" b="1" dirty="0">
                <a:solidFill>
                  <a:srgbClr val="0F9D58"/>
                </a:solidFill>
              </a:rPr>
              <a:t>EXECUTED</a:t>
            </a:r>
            <a:endParaRPr lang="en-US" sz="1300" dirty="0"/>
          </a:p>
        </p:txBody>
      </p:sp>
      <p:sp>
        <p:nvSpPr>
          <p:cNvPr id="6" name="Text 4"/>
          <p:cNvSpPr/>
          <p:nvPr/>
        </p:nvSpPr>
        <p:spPr>
          <a:xfrm>
            <a:off x="685800" y="1828800"/>
            <a:ext cx="3566160" cy="548640"/>
          </a:xfrm>
          <a:prstGeom prst="rect">
            <a:avLst/>
          </a:prstGeom>
          <a:noFill/>
          <a:ln/>
        </p:spPr>
        <p:txBody>
          <a:bodyPr wrap="square" rtlCol="0" anchor="ctr"/>
          <a:lstStyle/>
          <a:p>
            <a:pPr indent="0" marL="0">
              <a:buNone/>
            </a:pPr>
            <a:r>
              <a:rPr lang="en-US" sz="3400" b="1" dirty="0">
                <a:solidFill>
                  <a:srgbClr val="0B1F33"/>
                </a:solidFill>
              </a:rPr>
              <a:t>31 audits</a:t>
            </a:r>
            <a:endParaRPr lang="en-US" sz="3400" dirty="0"/>
          </a:p>
        </p:txBody>
      </p:sp>
      <p:sp>
        <p:nvSpPr>
          <p:cNvPr id="7" name="Text 5"/>
          <p:cNvSpPr/>
          <p:nvPr/>
        </p:nvSpPr>
        <p:spPr>
          <a:xfrm>
            <a:off x="685800" y="2423160"/>
            <a:ext cx="3566160" cy="1280160"/>
          </a:xfrm>
          <a:prstGeom prst="rect">
            <a:avLst/>
          </a:prstGeom>
          <a:noFill/>
          <a:ln/>
        </p:spPr>
        <p:txBody>
          <a:bodyPr wrap="square" rtlCol="0" anchor="ctr"/>
          <a:lstStyle/>
          <a:p>
            <a:pPr indent="0" marL="0">
              <a:buNone/>
            </a:pPr>
            <a:r>
              <a:rPr lang="en-US" sz="1200" dirty="0">
                <a:solidFill>
                  <a:srgbClr val="0B1F33"/>
                </a:solidFill>
              </a:rPr>
              <a:t>A.1–A.13, B.1–B.19</a:t>
            </a:r>
            <a:endParaRPr lang="en-US" sz="1200" dirty="0"/>
          </a:p>
          <a:p>
            <a:pPr indent="0" marL="0">
              <a:buNone/>
            </a:pPr>
            <a:endParaRPr lang="en-US" sz="1200" dirty="0"/>
          </a:p>
          <a:p>
            <a:pPr indent="0" marL="0">
              <a:buNone/>
            </a:pPr>
            <a:r>
              <a:rPr lang="en-US" sz="1200" dirty="0">
                <a:solidFill>
                  <a:srgbClr val="0B1F33"/>
                </a:solidFill>
              </a:rPr>
              <a:t>Traceable to committed certification</a:t>
            </a:r>
            <a:endParaRPr lang="en-US" sz="1200" dirty="0"/>
          </a:p>
          <a:p>
            <a:pPr indent="0" marL="0">
              <a:buNone/>
            </a:pPr>
            <a:r>
              <a:rPr lang="en-US" sz="1200" dirty="0">
                <a:solidFill>
                  <a:srgbClr val="0B1F33"/>
                </a:solidFill>
              </a:rPr>
              <a:t>documents and git history.</a:t>
            </a:r>
            <a:endParaRPr lang="en-US" sz="1200" dirty="0"/>
          </a:p>
        </p:txBody>
      </p:sp>
      <p:sp>
        <p:nvSpPr>
          <p:cNvPr id="8" name="Shape 6"/>
          <p:cNvSpPr/>
          <p:nvPr/>
        </p:nvSpPr>
        <p:spPr>
          <a:xfrm>
            <a:off x="4709160" y="1325880"/>
            <a:ext cx="3977640" cy="2651760"/>
          </a:xfrm>
          <a:prstGeom prst="rect">
            <a:avLst/>
          </a:prstGeom>
          <a:solidFill>
            <a:srgbClr val="F2F4F6"/>
          </a:solidFill>
          <a:ln w="19050">
            <a:solidFill>
              <a:srgbClr val="8A96A3"/>
            </a:solidFill>
            <a:prstDash val="dash"/>
          </a:ln>
        </p:spPr>
      </p:sp>
      <p:sp>
        <p:nvSpPr>
          <p:cNvPr id="9" name="Text 7"/>
          <p:cNvSpPr/>
          <p:nvPr/>
        </p:nvSpPr>
        <p:spPr>
          <a:xfrm>
            <a:off x="4937760" y="1508760"/>
            <a:ext cx="3566160" cy="320040"/>
          </a:xfrm>
          <a:prstGeom prst="rect">
            <a:avLst/>
          </a:prstGeom>
          <a:noFill/>
          <a:ln/>
        </p:spPr>
        <p:txBody>
          <a:bodyPr wrap="square" rtlCol="0" anchor="ctr"/>
          <a:lstStyle/>
          <a:p>
            <a:pPr indent="0" marL="0">
              <a:buNone/>
            </a:pPr>
            <a:r>
              <a:rPr lang="en-US" sz="1300" b="1" dirty="0">
                <a:solidFill>
                  <a:srgbClr val="8A96A3"/>
                </a:solidFill>
              </a:rPr>
              <a:t>PLANNED</a:t>
            </a:r>
            <a:endParaRPr lang="en-US" sz="1300" dirty="0"/>
          </a:p>
        </p:txBody>
      </p:sp>
      <p:sp>
        <p:nvSpPr>
          <p:cNvPr id="10" name="Text 8"/>
          <p:cNvSpPr/>
          <p:nvPr/>
        </p:nvSpPr>
        <p:spPr>
          <a:xfrm>
            <a:off x="4937760" y="1828800"/>
            <a:ext cx="3566160" cy="548640"/>
          </a:xfrm>
          <a:prstGeom prst="rect">
            <a:avLst/>
          </a:prstGeom>
          <a:noFill/>
          <a:ln/>
        </p:spPr>
        <p:txBody>
          <a:bodyPr wrap="square" rtlCol="0" anchor="ctr"/>
          <a:lstStyle/>
          <a:p>
            <a:pPr indent="0" marL="0">
              <a:buNone/>
            </a:pPr>
            <a:r>
              <a:rPr lang="en-US" sz="3400" b="1" dirty="0">
                <a:solidFill>
                  <a:srgbClr val="4A5C6D"/>
                </a:solidFill>
              </a:rPr>
              <a:t>7 audits</a:t>
            </a:r>
            <a:endParaRPr lang="en-US" sz="3400" dirty="0"/>
          </a:p>
        </p:txBody>
      </p:sp>
      <p:sp>
        <p:nvSpPr>
          <p:cNvPr id="11" name="Text 9"/>
          <p:cNvSpPr/>
          <p:nvPr/>
        </p:nvSpPr>
        <p:spPr>
          <a:xfrm>
            <a:off x="4937760" y="2423160"/>
            <a:ext cx="3566160" cy="1280160"/>
          </a:xfrm>
          <a:prstGeom prst="rect">
            <a:avLst/>
          </a:prstGeom>
          <a:noFill/>
          <a:ln/>
        </p:spPr>
        <p:txBody>
          <a:bodyPr wrap="square" rtlCol="0" anchor="ctr"/>
          <a:lstStyle/>
          <a:p>
            <a:pPr indent="0" marL="0">
              <a:buNone/>
            </a:pPr>
            <a:r>
              <a:rPr lang="en-US" sz="1200" dirty="0">
                <a:solidFill>
                  <a:srgbClr val="4A5C6D"/>
                </a:solidFill>
              </a:rPr>
              <a:t>B.20–B.25, Phase C</a:t>
            </a:r>
            <a:endParaRPr lang="en-US" sz="1200" dirty="0"/>
          </a:p>
          <a:p>
            <a:pPr indent="0" marL="0">
              <a:buNone/>
            </a:pPr>
            <a:endParaRPr lang="en-US" sz="1200" dirty="0"/>
          </a:p>
          <a:p>
            <a:pPr indent="0" marL="0">
              <a:buNone/>
            </a:pPr>
            <a:r>
              <a:rPr lang="en-US" sz="1200" dirty="0">
                <a:solidFill>
                  <a:srgbClr val="4A5C6D"/>
                </a:solidFill>
              </a:rPr>
              <a:t>Not executed.</a:t>
            </a:r>
            <a:endParaRPr lang="en-US" sz="1200" dirty="0"/>
          </a:p>
          <a:p>
            <a:pPr indent="0" marL="0">
              <a:buNone/>
            </a:pPr>
            <a:r>
              <a:rPr lang="en-US" sz="1200" dirty="0">
                <a:solidFill>
                  <a:srgbClr val="4A5C6D"/>
                </a:solidFill>
              </a:rPr>
              <a:t>No score. No findings. No evidence.</a:t>
            </a:r>
            <a:endParaRPr lang="en-US" sz="12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The position in five numbers</a:t>
            </a:r>
            <a:endParaRPr lang="en-US" sz="2400" dirty="0"/>
          </a:p>
        </p:txBody>
      </p:sp>
      <p:sp>
        <p:nvSpPr>
          <p:cNvPr id="3" name="Text 1"/>
          <p:cNvSpPr/>
          <p:nvPr/>
        </p:nvSpPr>
        <p:spPr>
          <a:xfrm>
            <a:off x="457200" y="841248"/>
            <a:ext cx="8229600" cy="292608"/>
          </a:xfrm>
          <a:prstGeom prst="rect">
            <a:avLst/>
          </a:prstGeom>
          <a:noFill/>
          <a:ln/>
        </p:spPr>
        <p:txBody>
          <a:bodyPr wrap="square" rtlCol="0" anchor="ctr"/>
          <a:lstStyle/>
          <a:p>
            <a:pPr indent="0" marL="0">
              <a:buNone/>
            </a:pPr>
            <a:r>
              <a:rPr lang="en-US" sz="1200" dirty="0">
                <a:solidFill>
                  <a:srgbClr val="4A5C6D"/>
                </a:solidFill>
              </a:rPr>
              <a:t>All measured against the running product</a:t>
            </a:r>
            <a:endParaRPr lang="en-US" sz="1200" dirty="0"/>
          </a:p>
        </p:txBody>
      </p:sp>
      <p:sp>
        <p:nvSpPr>
          <p:cNvPr id="4" name="Shape 2"/>
          <p:cNvSpPr/>
          <p:nvPr/>
        </p:nvSpPr>
        <p:spPr>
          <a:xfrm>
            <a:off x="457200" y="1463040"/>
            <a:ext cx="1536192" cy="1371600"/>
          </a:xfrm>
          <a:prstGeom prst="rect">
            <a:avLst/>
          </a:prstGeom>
          <a:solidFill>
            <a:srgbClr val="F5F8FA"/>
          </a:solidFill>
          <a:ln w="9525">
            <a:solidFill>
              <a:srgbClr val="D8E0E7"/>
            </a:solidFill>
            <a:prstDash val="solid"/>
          </a:ln>
        </p:spPr>
      </p:sp>
      <p:sp>
        <p:nvSpPr>
          <p:cNvPr id="5" name="Text 3"/>
          <p:cNvSpPr/>
          <p:nvPr/>
        </p:nvSpPr>
        <p:spPr>
          <a:xfrm>
            <a:off x="566928" y="1572768"/>
            <a:ext cx="1316736" cy="228600"/>
          </a:xfrm>
          <a:prstGeom prst="rect">
            <a:avLst/>
          </a:prstGeom>
          <a:noFill/>
          <a:ln/>
        </p:spPr>
        <p:txBody>
          <a:bodyPr wrap="square" rtlCol="0" anchor="ctr"/>
          <a:lstStyle/>
          <a:p>
            <a:pPr indent="0" marL="0">
              <a:buNone/>
            </a:pPr>
            <a:r>
              <a:rPr lang="en-US" sz="750" dirty="0">
                <a:solidFill>
                  <a:srgbClr val="4A5C6D"/>
                </a:solidFill>
              </a:rPr>
              <a:t>AUDITS EXECUTED</a:t>
            </a:r>
            <a:endParaRPr lang="en-US" sz="750" dirty="0"/>
          </a:p>
        </p:txBody>
      </p:sp>
      <p:sp>
        <p:nvSpPr>
          <p:cNvPr id="6" name="Text 4"/>
          <p:cNvSpPr/>
          <p:nvPr/>
        </p:nvSpPr>
        <p:spPr>
          <a:xfrm>
            <a:off x="566928" y="1828800"/>
            <a:ext cx="1316736" cy="502920"/>
          </a:xfrm>
          <a:prstGeom prst="rect">
            <a:avLst/>
          </a:prstGeom>
          <a:noFill/>
          <a:ln/>
        </p:spPr>
        <p:txBody>
          <a:bodyPr wrap="square" rtlCol="0" anchor="ctr"/>
          <a:lstStyle/>
          <a:p>
            <a:pPr indent="0" marL="0">
              <a:buNone/>
            </a:pPr>
            <a:r>
              <a:rPr lang="en-US" sz="2400" b="1" dirty="0">
                <a:solidFill>
                  <a:srgbClr val="1F4E79"/>
                </a:solidFill>
              </a:rPr>
              <a:t>31</a:t>
            </a:r>
            <a:endParaRPr lang="en-US" sz="2400" dirty="0"/>
          </a:p>
        </p:txBody>
      </p:sp>
      <p:sp>
        <p:nvSpPr>
          <p:cNvPr id="7" name="Text 5"/>
          <p:cNvSpPr/>
          <p:nvPr/>
        </p:nvSpPr>
        <p:spPr>
          <a:xfrm>
            <a:off x="566928" y="2377440"/>
            <a:ext cx="1316736" cy="274320"/>
          </a:xfrm>
          <a:prstGeom prst="rect">
            <a:avLst/>
          </a:prstGeom>
          <a:noFill/>
          <a:ln/>
        </p:spPr>
        <p:txBody>
          <a:bodyPr wrap="square" rtlCol="0" anchor="ctr"/>
          <a:lstStyle/>
          <a:p>
            <a:pPr indent="0" marL="0">
              <a:buNone/>
            </a:pPr>
            <a:r>
              <a:rPr lang="en-US" sz="800" dirty="0">
                <a:solidFill>
                  <a:srgbClr val="4A5C6D"/>
                </a:solidFill>
              </a:rPr>
              <a:t>of 38 total</a:t>
            </a:r>
            <a:endParaRPr lang="en-US" sz="800" dirty="0"/>
          </a:p>
        </p:txBody>
      </p:sp>
      <p:sp>
        <p:nvSpPr>
          <p:cNvPr id="8" name="Shape 6"/>
          <p:cNvSpPr/>
          <p:nvPr/>
        </p:nvSpPr>
        <p:spPr>
          <a:xfrm>
            <a:off x="2121408" y="1463040"/>
            <a:ext cx="1536192" cy="1371600"/>
          </a:xfrm>
          <a:prstGeom prst="rect">
            <a:avLst/>
          </a:prstGeom>
          <a:solidFill>
            <a:srgbClr val="F5F8FA"/>
          </a:solidFill>
          <a:ln w="9525">
            <a:solidFill>
              <a:srgbClr val="D8E0E7"/>
            </a:solidFill>
            <a:prstDash val="solid"/>
          </a:ln>
        </p:spPr>
      </p:sp>
      <p:sp>
        <p:nvSpPr>
          <p:cNvPr id="9" name="Text 7"/>
          <p:cNvSpPr/>
          <p:nvPr/>
        </p:nvSpPr>
        <p:spPr>
          <a:xfrm>
            <a:off x="2231136" y="1572768"/>
            <a:ext cx="1316736" cy="228600"/>
          </a:xfrm>
          <a:prstGeom prst="rect">
            <a:avLst/>
          </a:prstGeom>
          <a:noFill/>
          <a:ln/>
        </p:spPr>
        <p:txBody>
          <a:bodyPr wrap="square" rtlCol="0" anchor="ctr"/>
          <a:lstStyle/>
          <a:p>
            <a:pPr indent="0" marL="0">
              <a:buNone/>
            </a:pPr>
            <a:r>
              <a:rPr lang="en-US" sz="750" dirty="0">
                <a:solidFill>
                  <a:srgbClr val="4A5C6D"/>
                </a:solidFill>
              </a:rPr>
              <a:t>FINDINGS RECOVERED</a:t>
            </a:r>
            <a:endParaRPr lang="en-US" sz="750" dirty="0"/>
          </a:p>
        </p:txBody>
      </p:sp>
      <p:sp>
        <p:nvSpPr>
          <p:cNvPr id="10" name="Text 8"/>
          <p:cNvSpPr/>
          <p:nvPr/>
        </p:nvSpPr>
        <p:spPr>
          <a:xfrm>
            <a:off x="2231136" y="1828800"/>
            <a:ext cx="1316736" cy="502920"/>
          </a:xfrm>
          <a:prstGeom prst="rect">
            <a:avLst/>
          </a:prstGeom>
          <a:noFill/>
          <a:ln/>
        </p:spPr>
        <p:txBody>
          <a:bodyPr wrap="square" rtlCol="0" anchor="ctr"/>
          <a:lstStyle/>
          <a:p>
            <a:pPr indent="0" marL="0">
              <a:buNone/>
            </a:pPr>
            <a:r>
              <a:rPr lang="en-US" sz="2400" b="1" dirty="0">
                <a:solidFill>
                  <a:srgbClr val="0F9D58"/>
                </a:solidFill>
              </a:rPr>
              <a:t>116</a:t>
            </a:r>
            <a:endParaRPr lang="en-US" sz="2400" dirty="0"/>
          </a:p>
        </p:txBody>
      </p:sp>
      <p:sp>
        <p:nvSpPr>
          <p:cNvPr id="11" name="Text 9"/>
          <p:cNvSpPr/>
          <p:nvPr/>
        </p:nvSpPr>
        <p:spPr>
          <a:xfrm>
            <a:off x="2231136" y="2377440"/>
            <a:ext cx="1316736" cy="274320"/>
          </a:xfrm>
          <a:prstGeom prst="rect">
            <a:avLst/>
          </a:prstGeom>
          <a:noFill/>
          <a:ln/>
        </p:spPr>
        <p:txBody>
          <a:bodyPr wrap="square" rtlCol="0" anchor="ctr"/>
          <a:lstStyle/>
          <a:p>
            <a:pPr indent="0" marL="0">
              <a:buNone/>
            </a:pPr>
            <a:r>
              <a:rPr lang="en-US" sz="800" dirty="0">
                <a:solidFill>
                  <a:srgbClr val="4A5C6D"/>
                </a:solidFill>
              </a:rPr>
              <a:t>17 critical</a:t>
            </a:r>
            <a:endParaRPr lang="en-US" sz="800" dirty="0"/>
          </a:p>
        </p:txBody>
      </p:sp>
      <p:sp>
        <p:nvSpPr>
          <p:cNvPr id="12" name="Shape 10"/>
          <p:cNvSpPr/>
          <p:nvPr/>
        </p:nvSpPr>
        <p:spPr>
          <a:xfrm>
            <a:off x="3785616" y="1463040"/>
            <a:ext cx="1536192" cy="1371600"/>
          </a:xfrm>
          <a:prstGeom prst="rect">
            <a:avLst/>
          </a:prstGeom>
          <a:solidFill>
            <a:srgbClr val="F5F8FA"/>
          </a:solidFill>
          <a:ln w="9525">
            <a:solidFill>
              <a:srgbClr val="D8E0E7"/>
            </a:solidFill>
            <a:prstDash val="solid"/>
          </a:ln>
        </p:spPr>
      </p:sp>
      <p:sp>
        <p:nvSpPr>
          <p:cNvPr id="13" name="Text 11"/>
          <p:cNvSpPr/>
          <p:nvPr/>
        </p:nvSpPr>
        <p:spPr>
          <a:xfrm>
            <a:off x="3895344" y="1572768"/>
            <a:ext cx="1316736" cy="228600"/>
          </a:xfrm>
          <a:prstGeom prst="rect">
            <a:avLst/>
          </a:prstGeom>
          <a:noFill/>
          <a:ln/>
        </p:spPr>
        <p:txBody>
          <a:bodyPr wrap="square" rtlCol="0" anchor="ctr"/>
          <a:lstStyle/>
          <a:p>
            <a:pPr indent="0" marL="0">
              <a:buNone/>
            </a:pPr>
            <a:r>
              <a:rPr lang="en-US" sz="750" dirty="0">
                <a:solidFill>
                  <a:srgbClr val="4A5C6D"/>
                </a:solidFill>
              </a:rPr>
              <a:t>RESIDUAL CRITICAL</a:t>
            </a:r>
            <a:endParaRPr lang="en-US" sz="750" dirty="0"/>
          </a:p>
        </p:txBody>
      </p:sp>
      <p:sp>
        <p:nvSpPr>
          <p:cNvPr id="14" name="Text 12"/>
          <p:cNvSpPr/>
          <p:nvPr/>
        </p:nvSpPr>
        <p:spPr>
          <a:xfrm>
            <a:off x="3895344" y="1828800"/>
            <a:ext cx="1316736" cy="502920"/>
          </a:xfrm>
          <a:prstGeom prst="rect">
            <a:avLst/>
          </a:prstGeom>
          <a:noFill/>
          <a:ln/>
        </p:spPr>
        <p:txBody>
          <a:bodyPr wrap="square" rtlCol="0" anchor="ctr"/>
          <a:lstStyle/>
          <a:p>
            <a:pPr indent="0" marL="0">
              <a:buNone/>
            </a:pPr>
            <a:r>
              <a:rPr lang="en-US" sz="2400" b="1" dirty="0">
                <a:solidFill>
                  <a:srgbClr val="B00020"/>
                </a:solidFill>
              </a:rPr>
              <a:t>3</a:t>
            </a:r>
            <a:endParaRPr lang="en-US" sz="2400" dirty="0"/>
          </a:p>
        </p:txBody>
      </p:sp>
      <p:sp>
        <p:nvSpPr>
          <p:cNvPr id="15" name="Text 13"/>
          <p:cNvSpPr/>
          <p:nvPr/>
        </p:nvSpPr>
        <p:spPr>
          <a:xfrm>
            <a:off x="3895344" y="2377440"/>
            <a:ext cx="1316736" cy="274320"/>
          </a:xfrm>
          <a:prstGeom prst="rect">
            <a:avLst/>
          </a:prstGeom>
          <a:noFill/>
          <a:ln/>
        </p:spPr>
        <p:txBody>
          <a:bodyPr wrap="square" rtlCol="0" anchor="ctr"/>
          <a:lstStyle/>
          <a:p>
            <a:pPr indent="0" marL="0">
              <a:buNone/>
            </a:pPr>
            <a:r>
              <a:rPr lang="en-US" sz="800" dirty="0">
                <a:solidFill>
                  <a:srgbClr val="4A5C6D"/>
                </a:solidFill>
              </a:rPr>
              <a:t>one root cause</a:t>
            </a:r>
            <a:endParaRPr lang="en-US" sz="800" dirty="0"/>
          </a:p>
        </p:txBody>
      </p:sp>
      <p:sp>
        <p:nvSpPr>
          <p:cNvPr id="16" name="Shape 14"/>
          <p:cNvSpPr/>
          <p:nvPr/>
        </p:nvSpPr>
        <p:spPr>
          <a:xfrm>
            <a:off x="5449824" y="1463040"/>
            <a:ext cx="1536192" cy="1371600"/>
          </a:xfrm>
          <a:prstGeom prst="rect">
            <a:avLst/>
          </a:prstGeom>
          <a:solidFill>
            <a:srgbClr val="F5F8FA"/>
          </a:solidFill>
          <a:ln w="9525">
            <a:solidFill>
              <a:srgbClr val="D8E0E7"/>
            </a:solidFill>
            <a:prstDash val="solid"/>
          </a:ln>
        </p:spPr>
      </p:sp>
      <p:sp>
        <p:nvSpPr>
          <p:cNvPr id="17" name="Text 15"/>
          <p:cNvSpPr/>
          <p:nvPr/>
        </p:nvSpPr>
        <p:spPr>
          <a:xfrm>
            <a:off x="5559552" y="1572768"/>
            <a:ext cx="1316736" cy="228600"/>
          </a:xfrm>
          <a:prstGeom prst="rect">
            <a:avLst/>
          </a:prstGeom>
          <a:noFill/>
          <a:ln/>
        </p:spPr>
        <p:txBody>
          <a:bodyPr wrap="square" rtlCol="0" anchor="ctr"/>
          <a:lstStyle/>
          <a:p>
            <a:pPr indent="0" marL="0">
              <a:buNone/>
            </a:pPr>
            <a:r>
              <a:rPr lang="en-US" sz="750" dirty="0">
                <a:solidFill>
                  <a:srgbClr val="4A5C6D"/>
                </a:solidFill>
              </a:rPr>
              <a:t>MEAN SCORE</a:t>
            </a:r>
            <a:endParaRPr lang="en-US" sz="750" dirty="0"/>
          </a:p>
        </p:txBody>
      </p:sp>
      <p:sp>
        <p:nvSpPr>
          <p:cNvPr id="18" name="Text 16"/>
          <p:cNvSpPr/>
          <p:nvPr/>
        </p:nvSpPr>
        <p:spPr>
          <a:xfrm>
            <a:off x="5559552" y="1828800"/>
            <a:ext cx="1316736" cy="502920"/>
          </a:xfrm>
          <a:prstGeom prst="rect">
            <a:avLst/>
          </a:prstGeom>
          <a:noFill/>
          <a:ln/>
        </p:spPr>
        <p:txBody>
          <a:bodyPr wrap="square" rtlCol="0" anchor="ctr"/>
          <a:lstStyle/>
          <a:p>
            <a:pPr indent="0" marL="0">
              <a:buNone/>
            </a:pPr>
            <a:r>
              <a:rPr lang="en-US" sz="2400" b="1" dirty="0">
                <a:solidFill>
                  <a:srgbClr val="1F4E79"/>
                </a:solidFill>
              </a:rPr>
              <a:t>8.49</a:t>
            </a:r>
            <a:endParaRPr lang="en-US" sz="2400" dirty="0"/>
          </a:p>
        </p:txBody>
      </p:sp>
      <p:sp>
        <p:nvSpPr>
          <p:cNvPr id="19" name="Text 17"/>
          <p:cNvSpPr/>
          <p:nvPr/>
        </p:nvSpPr>
        <p:spPr>
          <a:xfrm>
            <a:off x="5559552" y="2377440"/>
            <a:ext cx="1316736" cy="274320"/>
          </a:xfrm>
          <a:prstGeom prst="rect">
            <a:avLst/>
          </a:prstGeom>
          <a:noFill/>
          <a:ln/>
        </p:spPr>
        <p:txBody>
          <a:bodyPr wrap="square" rtlCol="0" anchor="ctr"/>
          <a:lstStyle/>
          <a:p>
            <a:pPr indent="0" marL="0">
              <a:buNone/>
            </a:pPr>
            <a:r>
              <a:rPr lang="en-US" sz="800" dirty="0">
                <a:solidFill>
                  <a:srgbClr val="4A5C6D"/>
                </a:solidFill>
              </a:rPr>
              <a:t>8 scored audits</a:t>
            </a:r>
            <a:endParaRPr lang="en-US" sz="800" dirty="0"/>
          </a:p>
        </p:txBody>
      </p:sp>
      <p:sp>
        <p:nvSpPr>
          <p:cNvPr id="20" name="Shape 18"/>
          <p:cNvSpPr/>
          <p:nvPr/>
        </p:nvSpPr>
        <p:spPr>
          <a:xfrm>
            <a:off x="7114032" y="1463040"/>
            <a:ext cx="1536192" cy="1371600"/>
          </a:xfrm>
          <a:prstGeom prst="rect">
            <a:avLst/>
          </a:prstGeom>
          <a:solidFill>
            <a:srgbClr val="F5F8FA"/>
          </a:solidFill>
          <a:ln w="9525">
            <a:solidFill>
              <a:srgbClr val="D8E0E7"/>
            </a:solidFill>
            <a:prstDash val="solid"/>
          </a:ln>
        </p:spPr>
      </p:sp>
      <p:sp>
        <p:nvSpPr>
          <p:cNvPr id="21" name="Text 19"/>
          <p:cNvSpPr/>
          <p:nvPr/>
        </p:nvSpPr>
        <p:spPr>
          <a:xfrm>
            <a:off x="7223760" y="1572768"/>
            <a:ext cx="1316736" cy="228600"/>
          </a:xfrm>
          <a:prstGeom prst="rect">
            <a:avLst/>
          </a:prstGeom>
          <a:noFill/>
          <a:ln/>
        </p:spPr>
        <p:txBody>
          <a:bodyPr wrap="square" rtlCol="0" anchor="ctr"/>
          <a:lstStyle/>
          <a:p>
            <a:pPr indent="0" marL="0">
              <a:buNone/>
            </a:pPr>
            <a:r>
              <a:rPr lang="en-US" sz="750" dirty="0">
                <a:solidFill>
                  <a:srgbClr val="4A5C6D"/>
                </a:solidFill>
              </a:rPr>
              <a:t>REGRESSION</a:t>
            </a:r>
            <a:endParaRPr lang="en-US" sz="750" dirty="0"/>
          </a:p>
        </p:txBody>
      </p:sp>
      <p:sp>
        <p:nvSpPr>
          <p:cNvPr id="22" name="Text 20"/>
          <p:cNvSpPr/>
          <p:nvPr/>
        </p:nvSpPr>
        <p:spPr>
          <a:xfrm>
            <a:off x="7223760" y="1828800"/>
            <a:ext cx="1316736" cy="502920"/>
          </a:xfrm>
          <a:prstGeom prst="rect">
            <a:avLst/>
          </a:prstGeom>
          <a:noFill/>
          <a:ln/>
        </p:spPr>
        <p:txBody>
          <a:bodyPr wrap="square" rtlCol="0" anchor="ctr"/>
          <a:lstStyle/>
          <a:p>
            <a:pPr indent="0" marL="0">
              <a:buNone/>
            </a:pPr>
            <a:r>
              <a:rPr lang="en-US" sz="2400" b="1" dirty="0">
                <a:solidFill>
                  <a:srgbClr val="0F9D58"/>
                </a:solidFill>
              </a:rPr>
              <a:t>144/144</a:t>
            </a:r>
            <a:endParaRPr lang="en-US" sz="2400" dirty="0"/>
          </a:p>
        </p:txBody>
      </p:sp>
      <p:sp>
        <p:nvSpPr>
          <p:cNvPr id="23" name="Text 21"/>
          <p:cNvSpPr/>
          <p:nvPr/>
        </p:nvSpPr>
        <p:spPr>
          <a:xfrm>
            <a:off x="7223760" y="2377440"/>
            <a:ext cx="1316736" cy="274320"/>
          </a:xfrm>
          <a:prstGeom prst="rect">
            <a:avLst/>
          </a:prstGeom>
          <a:noFill/>
          <a:ln/>
        </p:spPr>
        <p:txBody>
          <a:bodyPr wrap="square" rtlCol="0" anchor="ctr"/>
          <a:lstStyle/>
          <a:p>
            <a:pPr indent="0" marL="0">
              <a:buNone/>
            </a:pPr>
            <a:r>
              <a:rPr lang="en-US" sz="800" dirty="0">
                <a:solidFill>
                  <a:srgbClr val="4A5C6D"/>
                </a:solidFill>
              </a:rPr>
              <a:t>+142/142 phase</a:t>
            </a:r>
            <a:endParaRPr lang="en-US" sz="800" dirty="0"/>
          </a:p>
        </p:txBody>
      </p:sp>
      <p:sp>
        <p:nvSpPr>
          <p:cNvPr id="24" name="Text 22"/>
          <p:cNvSpPr/>
          <p:nvPr/>
        </p:nvSpPr>
        <p:spPr>
          <a:xfrm>
            <a:off x="457200" y="3063240"/>
            <a:ext cx="8229600" cy="274320"/>
          </a:xfrm>
          <a:prstGeom prst="rect">
            <a:avLst/>
          </a:prstGeom>
          <a:noFill/>
          <a:ln/>
        </p:spPr>
        <p:txBody>
          <a:bodyPr wrap="square" rtlCol="0" anchor="ctr"/>
          <a:lstStyle/>
          <a:p>
            <a:pPr indent="0" marL="0">
              <a:buNone/>
            </a:pPr>
            <a:r>
              <a:rPr lang="en-US" sz="1000" i="1" dirty="0">
                <a:solidFill>
                  <a:srgbClr val="4A5C6D"/>
                </a:solidFill>
              </a:rPr>
              <a:t>Planned audits contribute nothing to any figure on this slide.</a:t>
            </a:r>
            <a:endParaRPr lang="en-US" sz="10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Verdict distribution</a:t>
            </a:r>
            <a:endParaRPr lang="en-US" sz="2400" dirty="0"/>
          </a:p>
        </p:txBody>
      </p:sp>
      <p:sp>
        <p:nvSpPr>
          <p:cNvPr id="3" name="Text 1"/>
          <p:cNvSpPr/>
          <p:nvPr/>
        </p:nvSpPr>
        <p:spPr>
          <a:xfrm>
            <a:off x="457200" y="841248"/>
            <a:ext cx="8229600" cy="292608"/>
          </a:xfrm>
          <a:prstGeom prst="rect">
            <a:avLst/>
          </a:prstGeom>
          <a:noFill/>
          <a:ln/>
        </p:spPr>
        <p:txBody>
          <a:bodyPr wrap="square" rtlCol="0" anchor="ctr"/>
          <a:lstStyle/>
          <a:p>
            <a:pPr indent="0" marL="0">
              <a:buNone/>
            </a:pPr>
            <a:r>
              <a:rPr lang="en-US" sz="1200" dirty="0">
                <a:solidFill>
                  <a:srgbClr val="4A5C6D"/>
                </a:solidFill>
              </a:rPr>
              <a:t>"Certified with limitations" is the honest majority verdict</a:t>
            </a:r>
            <a:endParaRPr lang="en-US" sz="1200" dirty="0"/>
          </a:p>
        </p:txBody>
      </p:sp>
      <p:sp>
        <p:nvSpPr>
          <p:cNvPr id="4" name="Shape 2"/>
          <p:cNvSpPr/>
          <p:nvPr/>
        </p:nvSpPr>
        <p:spPr>
          <a:xfrm>
            <a:off x="457200" y="1554480"/>
            <a:ext cx="3805084" cy="685800"/>
          </a:xfrm>
          <a:prstGeom prst="rect">
            <a:avLst/>
          </a:prstGeom>
          <a:solidFill>
            <a:srgbClr val="0F9D58"/>
          </a:solidFill>
          <a:ln/>
        </p:spPr>
      </p:sp>
      <p:sp>
        <p:nvSpPr>
          <p:cNvPr id="5" name="Text 3"/>
          <p:cNvSpPr/>
          <p:nvPr/>
        </p:nvSpPr>
        <p:spPr>
          <a:xfrm>
            <a:off x="457200" y="1554480"/>
            <a:ext cx="3805084" cy="685800"/>
          </a:xfrm>
          <a:prstGeom prst="rect">
            <a:avLst/>
          </a:prstGeom>
          <a:noFill/>
          <a:ln/>
        </p:spPr>
        <p:txBody>
          <a:bodyPr wrap="square" rtlCol="0" anchor="ctr"/>
          <a:lstStyle/>
          <a:p>
            <a:pPr algn="ctr" indent="0" marL="0">
              <a:buNone/>
            </a:pPr>
            <a:r>
              <a:rPr lang="en-US" sz="1100" b="1" dirty="0">
                <a:solidFill>
                  <a:srgbClr val="FFFFFF"/>
                </a:solidFill>
              </a:rPr>
              <a:t>15  CERTIFIED</a:t>
            </a:r>
            <a:endParaRPr lang="en-US" sz="1100" dirty="0"/>
          </a:p>
        </p:txBody>
      </p:sp>
      <p:sp>
        <p:nvSpPr>
          <p:cNvPr id="6" name="Shape 4"/>
          <p:cNvSpPr/>
          <p:nvPr/>
        </p:nvSpPr>
        <p:spPr>
          <a:xfrm>
            <a:off x="4372012" y="1554480"/>
            <a:ext cx="3805084" cy="685800"/>
          </a:xfrm>
          <a:prstGeom prst="rect">
            <a:avLst/>
          </a:prstGeom>
          <a:solidFill>
            <a:srgbClr val="C55A11"/>
          </a:solidFill>
          <a:ln/>
        </p:spPr>
      </p:sp>
      <p:sp>
        <p:nvSpPr>
          <p:cNvPr id="7" name="Text 5"/>
          <p:cNvSpPr/>
          <p:nvPr/>
        </p:nvSpPr>
        <p:spPr>
          <a:xfrm>
            <a:off x="4372012" y="1554480"/>
            <a:ext cx="3805084" cy="685800"/>
          </a:xfrm>
          <a:prstGeom prst="rect">
            <a:avLst/>
          </a:prstGeom>
          <a:noFill/>
          <a:ln/>
        </p:spPr>
        <p:txBody>
          <a:bodyPr wrap="square" rtlCol="0" anchor="ctr"/>
          <a:lstStyle/>
          <a:p>
            <a:pPr algn="ctr" indent="0" marL="0">
              <a:buNone/>
            </a:pPr>
            <a:r>
              <a:rPr lang="en-US" sz="1100" b="1" dirty="0">
                <a:solidFill>
                  <a:srgbClr val="FFFFFF"/>
                </a:solidFill>
              </a:rPr>
              <a:t>15  CERTIFIED WITH LIMITATIONS</a:t>
            </a:r>
            <a:endParaRPr lang="en-US" sz="1100" dirty="0"/>
          </a:p>
        </p:txBody>
      </p:sp>
      <p:sp>
        <p:nvSpPr>
          <p:cNvPr id="8" name="Shape 6"/>
          <p:cNvSpPr/>
          <p:nvPr/>
        </p:nvSpPr>
        <p:spPr>
          <a:xfrm>
            <a:off x="8286824" y="1554480"/>
            <a:ext cx="1280160" cy="685800"/>
          </a:xfrm>
          <a:prstGeom prst="rect">
            <a:avLst/>
          </a:prstGeom>
          <a:solidFill>
            <a:srgbClr val="B00020"/>
          </a:solidFill>
          <a:ln/>
        </p:spPr>
      </p:sp>
      <p:sp>
        <p:nvSpPr>
          <p:cNvPr id="9" name="Text 7"/>
          <p:cNvSpPr/>
          <p:nvPr/>
        </p:nvSpPr>
        <p:spPr>
          <a:xfrm>
            <a:off x="8286824" y="1554480"/>
            <a:ext cx="1280160" cy="685800"/>
          </a:xfrm>
          <a:prstGeom prst="rect">
            <a:avLst/>
          </a:prstGeom>
          <a:noFill/>
          <a:ln/>
        </p:spPr>
        <p:txBody>
          <a:bodyPr wrap="square" rtlCol="0" anchor="ctr"/>
          <a:lstStyle/>
          <a:p>
            <a:pPr algn="ctr" indent="0" marL="0">
              <a:buNone/>
            </a:pPr>
            <a:r>
              <a:rPr lang="en-US" sz="1100" b="1" dirty="0">
                <a:solidFill>
                  <a:srgbClr val="FFFFFF"/>
                </a:solidFill>
              </a:rPr>
              <a:t>1  NOT CERTIFIED</a:t>
            </a:r>
            <a:endParaRPr lang="en-US" sz="1100" dirty="0"/>
          </a:p>
        </p:txBody>
      </p:sp>
      <p:sp>
        <p:nvSpPr>
          <p:cNvPr id="10" name="Text 8"/>
          <p:cNvSpPr/>
          <p:nvPr/>
        </p:nvSpPr>
        <p:spPr>
          <a:xfrm>
            <a:off x="457200" y="2514600"/>
            <a:ext cx="8229600" cy="731520"/>
          </a:xfrm>
          <a:prstGeom prst="rect">
            <a:avLst/>
          </a:prstGeom>
          <a:noFill/>
          <a:ln/>
        </p:spPr>
        <p:txBody>
          <a:bodyPr wrap="square" rtlCol="0" anchor="ctr"/>
          <a:lstStyle/>
          <a:p>
            <a:pPr indent="0" marL="0">
              <a:buNone/>
            </a:pPr>
            <a:r>
              <a:rPr lang="en-US" sz="1300" dirty="0">
                <a:solidFill>
                  <a:srgbClr val="0B1F33"/>
                </a:solidFill>
              </a:rPr>
              <a:t>B.19 Accessibility is recorded as NOT CERTIFIED rather than omitted or softened.</a:t>
            </a:r>
            <a:endParaRPr lang="en-US" sz="1300" dirty="0"/>
          </a:p>
          <a:p>
            <a:pPr indent="0" marL="0">
              <a:buNone/>
            </a:pPr>
            <a:r>
              <a:rPr lang="en-US" sz="1300" dirty="0">
                <a:solidFill>
                  <a:srgbClr val="0B1F33"/>
                </a:solidFill>
              </a:rPr>
              <a:t>WCAG 2.2 AA was not achieved and the failing criteria are listed as failing.</a:t>
            </a:r>
            <a:endParaRPr lang="en-US" sz="13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Scored audits</a:t>
            </a:r>
            <a:endParaRPr lang="en-US" sz="2400" dirty="0"/>
          </a:p>
        </p:txBody>
      </p:sp>
      <p:sp>
        <p:nvSpPr>
          <p:cNvPr id="3" name="Text 1"/>
          <p:cNvSpPr/>
          <p:nvPr/>
        </p:nvSpPr>
        <p:spPr>
          <a:xfrm>
            <a:off x="457200" y="841248"/>
            <a:ext cx="8229600" cy="292608"/>
          </a:xfrm>
          <a:prstGeom prst="rect">
            <a:avLst/>
          </a:prstGeom>
          <a:noFill/>
          <a:ln/>
        </p:spPr>
        <p:txBody>
          <a:bodyPr wrap="square" rtlCol="0" anchor="ctr"/>
          <a:lstStyle/>
          <a:p>
            <a:pPr indent="0" marL="0">
              <a:buNone/>
            </a:pPr>
            <a:r>
              <a:rPr lang="en-US" sz="1200" dirty="0">
                <a:solidFill>
                  <a:srgbClr val="4A5C6D"/>
                </a:solidFill>
              </a:rPr>
              <a:t>8 of 31 executed audits carry a formal weighted score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572000"/>
                <a:gridCol w="2377440"/>
                <a:gridCol w="1280160"/>
              </a:tblGrid>
              <a:tr h="0">
                <a:tc>
                  <a:txBody>
                    <a:bodyPr/>
                    <a:lstStyle/>
                    <a:p>
                      <a:pPr indent="0" marL="0">
                        <a:buNone/>
                      </a:pPr>
                      <a:r>
                        <a:rPr lang="en-US" sz="1100" b="1" dirty="0">
                          <a:solidFill>
                            <a:srgbClr val="FFFFFF"/>
                          </a:solidFill>
                        </a:rPr>
                        <a:t>Audit</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rPr>
                        <a:t>Verdict</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algn="r" indent="0" marL="0">
                        <a:buNone/>
                      </a:pPr>
                      <a:r>
                        <a:rPr lang="en-US" sz="1100" b="1" dirty="0">
                          <a:solidFill>
                            <a:srgbClr val="FFFFFF"/>
                          </a:solidFill>
                        </a:rPr>
                        <a:t>Score</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r>
              <a:tr h="0">
                <a:tc>
                  <a:txBody>
                    <a:bodyPr/>
                    <a:lstStyle/>
                    <a:p>
                      <a:pPr indent="0" marL="0">
                        <a:buNone/>
                      </a:pPr>
                      <a:r>
                        <a:rPr lang="en-US" sz="1100" dirty="0">
                          <a:solidFill>
                            <a:srgbClr val="0B1F33"/>
                          </a:solidFill>
                        </a:rPr>
                        <a:t>B.19.2  Visual Accessibility Recovery</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1000" dirty="0">
                          <a:solidFill>
                            <a:srgbClr val="C55A11"/>
                          </a:solidFill>
                        </a:rPr>
                        <a:t>CERTIFIED WITH LIMITATIONS</a:t>
                      </a:r>
                      <a:endParaRPr lang="en-US" sz="10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B1F33"/>
                          </a:solidFill>
                        </a:rPr>
                        <a:t>9.0</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0B1F33"/>
                          </a:solidFill>
                        </a:rPr>
                        <a:t>B.10  Memory Certification</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1000" dirty="0">
                          <a:solidFill>
                            <a:srgbClr val="C55A11"/>
                          </a:solidFill>
                        </a:rPr>
                        <a:t>CERTIFIED WITH LIMITATIONS</a:t>
                      </a:r>
                      <a:endParaRPr lang="en-US" sz="10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1100" b="1" dirty="0">
                          <a:solidFill>
                            <a:srgbClr val="0B1F33"/>
                          </a:solidFill>
                        </a:rPr>
                        <a:t>8.7</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1100" dirty="0">
                          <a:solidFill>
                            <a:srgbClr val="0B1F33"/>
                          </a:solidFill>
                        </a:rPr>
                        <a:t>B.11  Agent Certification</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1000" dirty="0">
                          <a:solidFill>
                            <a:srgbClr val="C55A11"/>
                          </a:solidFill>
                        </a:rPr>
                        <a:t>CERTIFIED WITH LIMITATIONS</a:t>
                      </a:r>
                      <a:endParaRPr lang="en-US" sz="10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B1F33"/>
                          </a:solidFill>
                        </a:rPr>
                        <a:t>8.7</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0B1F33"/>
                          </a:solidFill>
                        </a:rPr>
                        <a:t>B.13  Automation &amp; Workflow OS</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1000" dirty="0">
                          <a:solidFill>
                            <a:srgbClr val="C55A11"/>
                          </a:solidFill>
                        </a:rPr>
                        <a:t>CERTIFIED WITH LIMITATIONS</a:t>
                      </a:r>
                      <a:endParaRPr lang="en-US" sz="10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1100" b="1" dirty="0">
                          <a:solidFill>
                            <a:srgbClr val="0B1F33"/>
                          </a:solidFill>
                        </a:rPr>
                        <a:t>8.7</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1100" dirty="0">
                          <a:solidFill>
                            <a:srgbClr val="0B1F33"/>
                          </a:solidFill>
                        </a:rPr>
                        <a:t>B.9  AI Intelligence Certification</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1000" dirty="0">
                          <a:solidFill>
                            <a:srgbClr val="C55A11"/>
                          </a:solidFill>
                        </a:rPr>
                        <a:t>CERTIFIED WITH LIMITATIONS</a:t>
                      </a:r>
                      <a:endParaRPr lang="en-US" sz="10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B1F33"/>
                          </a:solidFill>
                        </a:rPr>
                        <a:t>8.6</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0B1F33"/>
                          </a:solidFill>
                        </a:rPr>
                        <a:t>B.19.2.1  Visual Accessibility Recovery — Final</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1000" dirty="0">
                          <a:solidFill>
                            <a:srgbClr val="C55A11"/>
                          </a:solidFill>
                        </a:rPr>
                        <a:t>CERTIFIED WITH LIMITATIONS</a:t>
                      </a:r>
                      <a:endParaRPr lang="en-US" sz="10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1100" b="1" dirty="0">
                          <a:solidFill>
                            <a:srgbClr val="0B1F33"/>
                          </a:solidFill>
                        </a:rPr>
                        <a:t>8.5</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1100" dirty="0">
                          <a:solidFill>
                            <a:srgbClr val="0B1F33"/>
                          </a:solidFill>
                        </a:rPr>
                        <a:t>B.8  DevOps Certification</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1000" dirty="0">
                          <a:solidFill>
                            <a:srgbClr val="C55A11"/>
                          </a:solidFill>
                        </a:rPr>
                        <a:t>CERTIFIED WITH LIMITATIONS</a:t>
                      </a:r>
                      <a:endParaRPr lang="en-US" sz="10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B1F33"/>
                          </a:solidFill>
                        </a:rPr>
                        <a:t>8.1</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0B1F33"/>
                          </a:solidFill>
                        </a:rPr>
                        <a:t>B.7  API Certification</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1000" dirty="0">
                          <a:solidFill>
                            <a:srgbClr val="C55A11"/>
                          </a:solidFill>
                        </a:rPr>
                        <a:t>CERTIFIED WITH LIMITATIONS</a:t>
                      </a:r>
                      <a:endParaRPr lang="en-US" sz="10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1100" b="1" dirty="0">
                          <a:solidFill>
                            <a:srgbClr val="0B1F33"/>
                          </a:solidFill>
                        </a:rPr>
                        <a:t>7.6</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1100" b="1" dirty="0">
                          <a:solidFill>
                            <a:srgbClr val="0B1F33"/>
                          </a:solidFill>
                        </a:rPr>
                        <a:t>Mean of scored audits</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0B1F33"/>
                          </a:solidFill>
                        </a:rPr>
                        <a:t>8.49</a:t>
                      </a:r>
                      <a:endParaRPr lang="en-US" sz="11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3977640"/>
            <a:ext cx="8229600" cy="320040"/>
          </a:xfrm>
          <a:prstGeom prst="rect">
            <a:avLst/>
          </a:prstGeom>
          <a:noFill/>
          <a:ln/>
        </p:spPr>
        <p:txBody>
          <a:bodyPr wrap="square" rtlCol="0" anchor="ctr"/>
          <a:lstStyle/>
          <a:p>
            <a:pPr indent="0" marL="0">
              <a:buNone/>
            </a:pPr>
            <a:r>
              <a:rPr lang="en-US" sz="1000" i="1" dirty="0">
                <a:solidFill>
                  <a:srgbClr val="4A5C6D"/>
                </a:solidFill>
              </a:rPr>
              <a:t>The other 29 executed audits were pass/fail against defined criteria. Averaging across both would fabricate precision.</a:t>
            </a:r>
            <a:endParaRPr lang="en-US" sz="10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Four measurements that changed materially</a:t>
            </a:r>
            <a:endParaRPr lang="en-US" sz="2400" dirty="0"/>
          </a:p>
        </p:txBody>
      </p:sp>
      <p:sp>
        <p:nvSpPr>
          <p:cNvPr id="3" name="Text 1"/>
          <p:cNvSpPr/>
          <p:nvPr/>
        </p:nvSpPr>
        <p:spPr>
          <a:xfrm>
            <a:off x="457200" y="841248"/>
            <a:ext cx="8229600" cy="292608"/>
          </a:xfrm>
          <a:prstGeom prst="rect">
            <a:avLst/>
          </a:prstGeom>
          <a:noFill/>
          <a:ln/>
        </p:spPr>
        <p:txBody>
          <a:bodyPr wrap="square" rtlCol="0" anchor="ctr"/>
          <a:lstStyle/>
          <a:p>
            <a:pPr indent="0" marL="0">
              <a:buNone/>
            </a:pPr>
            <a:r>
              <a:rPr lang="en-US" sz="1200" dirty="0">
                <a:solidFill>
                  <a:srgbClr val="4A5C6D"/>
                </a:solidFill>
              </a:rPr>
              <a:t>Before and after recovery, measured the same way</a:t>
            </a:r>
            <a:endParaRPr lang="en-US" sz="1200" dirty="0"/>
          </a:p>
        </p:txBody>
      </p:sp>
      <p:sp>
        <p:nvSpPr>
          <p:cNvPr id="4" name="Text 2"/>
          <p:cNvSpPr/>
          <p:nvPr/>
        </p:nvSpPr>
        <p:spPr>
          <a:xfrm>
            <a:off x="457200" y="1417320"/>
            <a:ext cx="3931920" cy="228600"/>
          </a:xfrm>
          <a:prstGeom prst="rect">
            <a:avLst/>
          </a:prstGeom>
          <a:noFill/>
          <a:ln/>
        </p:spPr>
        <p:txBody>
          <a:bodyPr wrap="square" rtlCol="0" anchor="ctr"/>
          <a:lstStyle/>
          <a:p>
            <a:pPr indent="0" marL="0">
              <a:buNone/>
            </a:pPr>
            <a:r>
              <a:rPr lang="en-US" sz="900" dirty="0">
                <a:solidFill>
                  <a:srgbClr val="4A5C6D"/>
                </a:solidFill>
              </a:rPr>
              <a:t>AGENT WORK REJECTED · B.11</a:t>
            </a:r>
            <a:endParaRPr lang="en-US" sz="900" dirty="0"/>
          </a:p>
        </p:txBody>
      </p:sp>
      <p:sp>
        <p:nvSpPr>
          <p:cNvPr id="5" name="Text 3"/>
          <p:cNvSpPr/>
          <p:nvPr/>
        </p:nvSpPr>
        <p:spPr>
          <a:xfrm>
            <a:off x="457200" y="1673352"/>
            <a:ext cx="1371600" cy="457200"/>
          </a:xfrm>
          <a:prstGeom prst="rect">
            <a:avLst/>
          </a:prstGeom>
          <a:noFill/>
          <a:ln/>
        </p:spPr>
        <p:txBody>
          <a:bodyPr wrap="square" rtlCol="0" anchor="ctr"/>
          <a:lstStyle/>
          <a:p>
            <a:pPr indent="0" marL="0">
              <a:buNone/>
            </a:pPr>
            <a:r>
              <a:rPr lang="en-US" sz="2200" b="1" dirty="0">
                <a:solidFill>
                  <a:srgbClr val="B00020"/>
                </a:solidFill>
              </a:rPr>
              <a:t>68.6%</a:t>
            </a:r>
            <a:endParaRPr lang="en-US" sz="2200" dirty="0"/>
          </a:p>
        </p:txBody>
      </p:sp>
      <p:sp>
        <p:nvSpPr>
          <p:cNvPr id="6" name="Text 4"/>
          <p:cNvSpPr/>
          <p:nvPr/>
        </p:nvSpPr>
        <p:spPr>
          <a:xfrm>
            <a:off x="1783080" y="1709928"/>
            <a:ext cx="365760" cy="365760"/>
          </a:xfrm>
          <a:prstGeom prst="rect">
            <a:avLst/>
          </a:prstGeom>
          <a:noFill/>
          <a:ln/>
        </p:spPr>
        <p:txBody>
          <a:bodyPr wrap="square" rtlCol="0" anchor="ctr"/>
          <a:lstStyle/>
          <a:p>
            <a:pPr indent="0" marL="0">
              <a:buNone/>
            </a:pPr>
            <a:r>
              <a:rPr lang="en-US" sz="1600" dirty="0">
                <a:solidFill>
                  <a:srgbClr val="4A5C6D"/>
                </a:solidFill>
              </a:rPr>
              <a:t>→</a:t>
            </a:r>
            <a:endParaRPr lang="en-US" sz="1600" dirty="0"/>
          </a:p>
        </p:txBody>
      </p:sp>
      <p:sp>
        <p:nvSpPr>
          <p:cNvPr id="7" name="Text 5"/>
          <p:cNvSpPr/>
          <p:nvPr/>
        </p:nvSpPr>
        <p:spPr>
          <a:xfrm>
            <a:off x="2148840" y="1673352"/>
            <a:ext cx="1463040" cy="457200"/>
          </a:xfrm>
          <a:prstGeom prst="rect">
            <a:avLst/>
          </a:prstGeom>
          <a:noFill/>
          <a:ln/>
        </p:spPr>
        <p:txBody>
          <a:bodyPr wrap="square" rtlCol="0" anchor="ctr"/>
          <a:lstStyle/>
          <a:p>
            <a:pPr indent="0" marL="0">
              <a:buNone/>
            </a:pPr>
            <a:r>
              <a:rPr lang="en-US" sz="2200" b="1" dirty="0">
                <a:solidFill>
                  <a:srgbClr val="0F9D58"/>
                </a:solidFill>
              </a:rPr>
              <a:t>0.0%</a:t>
            </a:r>
            <a:endParaRPr lang="en-US" sz="2200" dirty="0"/>
          </a:p>
        </p:txBody>
      </p:sp>
      <p:sp>
        <p:nvSpPr>
          <p:cNvPr id="8" name="Text 6"/>
          <p:cNvSpPr/>
          <p:nvPr/>
        </p:nvSpPr>
        <p:spPr>
          <a:xfrm>
            <a:off x="457200" y="2167128"/>
            <a:ext cx="3931920" cy="256032"/>
          </a:xfrm>
          <a:prstGeom prst="rect">
            <a:avLst/>
          </a:prstGeom>
          <a:noFill/>
          <a:ln/>
        </p:spPr>
        <p:txBody>
          <a:bodyPr wrap="square" rtlCol="0" anchor="ctr"/>
          <a:lstStyle/>
          <a:p>
            <a:pPr indent="0" marL="0">
              <a:buNone/>
            </a:pPr>
            <a:r>
              <a:rPr lang="en-US" sz="900" dirty="0">
                <a:solidFill>
                  <a:srgbClr val="4A5C6D"/>
                </a:solidFill>
              </a:rPr>
              <a:t>1371 of 2000 runs failed memory_pressure</a:t>
            </a:r>
            <a:endParaRPr lang="en-US" sz="900" dirty="0"/>
          </a:p>
        </p:txBody>
      </p:sp>
      <p:sp>
        <p:nvSpPr>
          <p:cNvPr id="9" name="Text 7"/>
          <p:cNvSpPr/>
          <p:nvPr/>
        </p:nvSpPr>
        <p:spPr>
          <a:xfrm>
            <a:off x="4663440" y="1417320"/>
            <a:ext cx="3931920" cy="228600"/>
          </a:xfrm>
          <a:prstGeom prst="rect">
            <a:avLst/>
          </a:prstGeom>
          <a:noFill/>
          <a:ln/>
        </p:spPr>
        <p:txBody>
          <a:bodyPr wrap="square" rtlCol="0" anchor="ctr"/>
          <a:lstStyle/>
          <a:p>
            <a:pPr indent="0" marL="0">
              <a:buNone/>
            </a:pPr>
            <a:r>
              <a:rPr lang="en-US" sz="900" dirty="0">
                <a:solidFill>
                  <a:srgbClr val="4A5C6D"/>
                </a:solidFill>
              </a:rPr>
              <a:t>KNOWLEDGE GRAPH EDGES · B.12</a:t>
            </a:r>
            <a:endParaRPr lang="en-US" sz="900" dirty="0"/>
          </a:p>
        </p:txBody>
      </p:sp>
      <p:sp>
        <p:nvSpPr>
          <p:cNvPr id="10" name="Text 8"/>
          <p:cNvSpPr/>
          <p:nvPr/>
        </p:nvSpPr>
        <p:spPr>
          <a:xfrm>
            <a:off x="4663440" y="1673352"/>
            <a:ext cx="1371600" cy="457200"/>
          </a:xfrm>
          <a:prstGeom prst="rect">
            <a:avLst/>
          </a:prstGeom>
          <a:noFill/>
          <a:ln/>
        </p:spPr>
        <p:txBody>
          <a:bodyPr wrap="square" rtlCol="0" anchor="ctr"/>
          <a:lstStyle/>
          <a:p>
            <a:pPr indent="0" marL="0">
              <a:buNone/>
            </a:pPr>
            <a:r>
              <a:rPr lang="en-US" sz="2200" b="1" dirty="0">
                <a:solidFill>
                  <a:srgbClr val="B00020"/>
                </a:solidFill>
              </a:rPr>
              <a:t>5</a:t>
            </a:r>
            <a:endParaRPr lang="en-US" sz="2200" dirty="0"/>
          </a:p>
        </p:txBody>
      </p:sp>
      <p:sp>
        <p:nvSpPr>
          <p:cNvPr id="11" name="Text 9"/>
          <p:cNvSpPr/>
          <p:nvPr/>
        </p:nvSpPr>
        <p:spPr>
          <a:xfrm>
            <a:off x="5989320" y="1709928"/>
            <a:ext cx="365760" cy="365760"/>
          </a:xfrm>
          <a:prstGeom prst="rect">
            <a:avLst/>
          </a:prstGeom>
          <a:noFill/>
          <a:ln/>
        </p:spPr>
        <p:txBody>
          <a:bodyPr wrap="square" rtlCol="0" anchor="ctr"/>
          <a:lstStyle/>
          <a:p>
            <a:pPr indent="0" marL="0">
              <a:buNone/>
            </a:pPr>
            <a:r>
              <a:rPr lang="en-US" sz="1600" dirty="0">
                <a:solidFill>
                  <a:srgbClr val="4A5C6D"/>
                </a:solidFill>
              </a:rPr>
              <a:t>→</a:t>
            </a:r>
            <a:endParaRPr lang="en-US" sz="1600" dirty="0"/>
          </a:p>
        </p:txBody>
      </p:sp>
      <p:sp>
        <p:nvSpPr>
          <p:cNvPr id="12" name="Text 10"/>
          <p:cNvSpPr/>
          <p:nvPr/>
        </p:nvSpPr>
        <p:spPr>
          <a:xfrm>
            <a:off x="6355080" y="1673352"/>
            <a:ext cx="1463040" cy="457200"/>
          </a:xfrm>
          <a:prstGeom prst="rect">
            <a:avLst/>
          </a:prstGeom>
          <a:noFill/>
          <a:ln/>
        </p:spPr>
        <p:txBody>
          <a:bodyPr wrap="square" rtlCol="0" anchor="ctr"/>
          <a:lstStyle/>
          <a:p>
            <a:pPr indent="0" marL="0">
              <a:buNone/>
            </a:pPr>
            <a:r>
              <a:rPr lang="en-US" sz="2200" b="1" dirty="0">
                <a:solidFill>
                  <a:srgbClr val="0F9D58"/>
                </a:solidFill>
              </a:rPr>
              <a:t>1526</a:t>
            </a:r>
            <a:endParaRPr lang="en-US" sz="2200" dirty="0"/>
          </a:p>
        </p:txBody>
      </p:sp>
      <p:sp>
        <p:nvSpPr>
          <p:cNvPr id="13" name="Text 11"/>
          <p:cNvSpPr/>
          <p:nvPr/>
        </p:nvSpPr>
        <p:spPr>
          <a:xfrm>
            <a:off x="4663440" y="2167128"/>
            <a:ext cx="3931920" cy="256032"/>
          </a:xfrm>
          <a:prstGeom prst="rect">
            <a:avLst/>
          </a:prstGeom>
          <a:noFill/>
          <a:ln/>
        </p:spPr>
        <p:txBody>
          <a:bodyPr wrap="square" rtlCol="0" anchor="ctr"/>
          <a:lstStyle/>
          <a:p>
            <a:pPr indent="0" marL="0">
              <a:buNone/>
            </a:pPr>
            <a:r>
              <a:rPr lang="en-US" sz="900" dirty="0">
                <a:solidFill>
                  <a:srgbClr val="4A5C6D"/>
                </a:solidFill>
              </a:rPr>
              <a:t>capability existed; it had never been run</a:t>
            </a:r>
            <a:endParaRPr lang="en-US" sz="900" dirty="0"/>
          </a:p>
        </p:txBody>
      </p:sp>
      <p:sp>
        <p:nvSpPr>
          <p:cNvPr id="14" name="Text 12"/>
          <p:cNvSpPr/>
          <p:nvPr/>
        </p:nvSpPr>
        <p:spPr>
          <a:xfrm>
            <a:off x="457200" y="2743200"/>
            <a:ext cx="3931920" cy="228600"/>
          </a:xfrm>
          <a:prstGeom prst="rect">
            <a:avLst/>
          </a:prstGeom>
          <a:noFill/>
          <a:ln/>
        </p:spPr>
        <p:txBody>
          <a:bodyPr wrap="square" rtlCol="0" anchor="ctr"/>
          <a:lstStyle/>
          <a:p>
            <a:pPr indent="0" marL="0">
              <a:buNone/>
            </a:pPr>
            <a:r>
              <a:rPr lang="en-US" sz="900" dirty="0">
                <a:solidFill>
                  <a:srgbClr val="4A5C6D"/>
                </a:solidFill>
              </a:rPr>
              <a:t>DLQ NAMING FAILING AGENT · B.18</a:t>
            </a:r>
            <a:endParaRPr lang="en-US" sz="900" dirty="0"/>
          </a:p>
        </p:txBody>
      </p:sp>
      <p:sp>
        <p:nvSpPr>
          <p:cNvPr id="15" name="Text 13"/>
          <p:cNvSpPr/>
          <p:nvPr/>
        </p:nvSpPr>
        <p:spPr>
          <a:xfrm>
            <a:off x="457200" y="2999232"/>
            <a:ext cx="1371600" cy="457200"/>
          </a:xfrm>
          <a:prstGeom prst="rect">
            <a:avLst/>
          </a:prstGeom>
          <a:noFill/>
          <a:ln/>
        </p:spPr>
        <p:txBody>
          <a:bodyPr wrap="square" rtlCol="0" anchor="ctr"/>
          <a:lstStyle/>
          <a:p>
            <a:pPr indent="0" marL="0">
              <a:buNone/>
            </a:pPr>
            <a:r>
              <a:rPr lang="en-US" sz="2200" b="1" dirty="0">
                <a:solidFill>
                  <a:srgbClr val="B00020"/>
                </a:solidFill>
              </a:rPr>
              <a:t>0</a:t>
            </a:r>
            <a:endParaRPr lang="en-US" sz="2200" dirty="0"/>
          </a:p>
        </p:txBody>
      </p:sp>
      <p:sp>
        <p:nvSpPr>
          <p:cNvPr id="16" name="Text 14"/>
          <p:cNvSpPr/>
          <p:nvPr/>
        </p:nvSpPr>
        <p:spPr>
          <a:xfrm>
            <a:off x="1783080" y="3035808"/>
            <a:ext cx="365760" cy="365760"/>
          </a:xfrm>
          <a:prstGeom prst="rect">
            <a:avLst/>
          </a:prstGeom>
          <a:noFill/>
          <a:ln/>
        </p:spPr>
        <p:txBody>
          <a:bodyPr wrap="square" rtlCol="0" anchor="ctr"/>
          <a:lstStyle/>
          <a:p>
            <a:pPr indent="0" marL="0">
              <a:buNone/>
            </a:pPr>
            <a:r>
              <a:rPr lang="en-US" sz="1600" dirty="0">
                <a:solidFill>
                  <a:srgbClr val="4A5C6D"/>
                </a:solidFill>
              </a:rPr>
              <a:t>→</a:t>
            </a:r>
            <a:endParaRPr lang="en-US" sz="1600" dirty="0"/>
          </a:p>
        </p:txBody>
      </p:sp>
      <p:sp>
        <p:nvSpPr>
          <p:cNvPr id="17" name="Text 15"/>
          <p:cNvSpPr/>
          <p:nvPr/>
        </p:nvSpPr>
        <p:spPr>
          <a:xfrm>
            <a:off x="2148840" y="2999232"/>
            <a:ext cx="1463040" cy="457200"/>
          </a:xfrm>
          <a:prstGeom prst="rect">
            <a:avLst/>
          </a:prstGeom>
          <a:noFill/>
          <a:ln/>
        </p:spPr>
        <p:txBody>
          <a:bodyPr wrap="square" rtlCol="0" anchor="ctr"/>
          <a:lstStyle/>
          <a:p>
            <a:pPr indent="0" marL="0">
              <a:buNone/>
            </a:pPr>
            <a:r>
              <a:rPr lang="en-US" sz="2200" b="1" dirty="0">
                <a:solidFill>
                  <a:srgbClr val="0F9D58"/>
                </a:solidFill>
              </a:rPr>
              <a:t>980</a:t>
            </a:r>
            <a:endParaRPr lang="en-US" sz="2200" dirty="0"/>
          </a:p>
        </p:txBody>
      </p:sp>
      <p:sp>
        <p:nvSpPr>
          <p:cNvPr id="18" name="Text 16"/>
          <p:cNvSpPr/>
          <p:nvPr/>
        </p:nvSpPr>
        <p:spPr>
          <a:xfrm>
            <a:off x="457200" y="3493008"/>
            <a:ext cx="3931920" cy="256032"/>
          </a:xfrm>
          <a:prstGeom prst="rect">
            <a:avLst/>
          </a:prstGeom>
          <a:noFill/>
          <a:ln/>
        </p:spPr>
        <p:txBody>
          <a:bodyPr wrap="square" rtlCol="0" anchor="ctr"/>
          <a:lstStyle/>
          <a:p>
            <a:pPr indent="0" marL="0">
              <a:buNone/>
            </a:pPr>
            <a:r>
              <a:rPr lang="en-US" sz="900" dirty="0">
                <a:solidFill>
                  <a:srgbClr val="4A5C6D"/>
                </a:solidFill>
              </a:rPr>
              <a:t>anonymous backlog made triage impossible</a:t>
            </a:r>
            <a:endParaRPr lang="en-US" sz="900" dirty="0"/>
          </a:p>
        </p:txBody>
      </p:sp>
      <p:sp>
        <p:nvSpPr>
          <p:cNvPr id="19" name="Text 17"/>
          <p:cNvSpPr/>
          <p:nvPr/>
        </p:nvSpPr>
        <p:spPr>
          <a:xfrm>
            <a:off x="4663440" y="2743200"/>
            <a:ext cx="3931920" cy="228600"/>
          </a:xfrm>
          <a:prstGeom prst="rect">
            <a:avLst/>
          </a:prstGeom>
          <a:noFill/>
          <a:ln/>
        </p:spPr>
        <p:txBody>
          <a:bodyPr wrap="square" rtlCol="0" anchor="ctr"/>
          <a:lstStyle/>
          <a:p>
            <a:pPr indent="0" marL="0">
              <a:buNone/>
            </a:pPr>
            <a:r>
              <a:rPr lang="en-US" sz="900" dirty="0">
                <a:solidFill>
                  <a:srgbClr val="4A5C6D"/>
                </a:solidFill>
              </a:rPr>
              <a:t>EVENT-LOOP BLOCK · B.1</a:t>
            </a:r>
            <a:endParaRPr lang="en-US" sz="900" dirty="0"/>
          </a:p>
        </p:txBody>
      </p:sp>
      <p:sp>
        <p:nvSpPr>
          <p:cNvPr id="20" name="Text 18"/>
          <p:cNvSpPr/>
          <p:nvPr/>
        </p:nvSpPr>
        <p:spPr>
          <a:xfrm>
            <a:off x="4663440" y="2999232"/>
            <a:ext cx="1371600" cy="457200"/>
          </a:xfrm>
          <a:prstGeom prst="rect">
            <a:avLst/>
          </a:prstGeom>
          <a:noFill/>
          <a:ln/>
        </p:spPr>
        <p:txBody>
          <a:bodyPr wrap="square" rtlCol="0" anchor="ctr"/>
          <a:lstStyle/>
          <a:p>
            <a:pPr indent="0" marL="0">
              <a:buNone/>
            </a:pPr>
            <a:r>
              <a:rPr lang="en-US" sz="2200" b="1" dirty="0">
                <a:solidFill>
                  <a:srgbClr val="B00020"/>
                </a:solidFill>
              </a:rPr>
              <a:t>483ms</a:t>
            </a:r>
            <a:endParaRPr lang="en-US" sz="2200" dirty="0"/>
          </a:p>
        </p:txBody>
      </p:sp>
      <p:sp>
        <p:nvSpPr>
          <p:cNvPr id="21" name="Text 19"/>
          <p:cNvSpPr/>
          <p:nvPr/>
        </p:nvSpPr>
        <p:spPr>
          <a:xfrm>
            <a:off x="5989320" y="3035808"/>
            <a:ext cx="365760" cy="365760"/>
          </a:xfrm>
          <a:prstGeom prst="rect">
            <a:avLst/>
          </a:prstGeom>
          <a:noFill/>
          <a:ln/>
        </p:spPr>
        <p:txBody>
          <a:bodyPr wrap="square" rtlCol="0" anchor="ctr"/>
          <a:lstStyle/>
          <a:p>
            <a:pPr indent="0" marL="0">
              <a:buNone/>
            </a:pPr>
            <a:r>
              <a:rPr lang="en-US" sz="1600" dirty="0">
                <a:solidFill>
                  <a:srgbClr val="4A5C6D"/>
                </a:solidFill>
              </a:rPr>
              <a:t>→</a:t>
            </a:r>
            <a:endParaRPr lang="en-US" sz="1600" dirty="0"/>
          </a:p>
        </p:txBody>
      </p:sp>
      <p:sp>
        <p:nvSpPr>
          <p:cNvPr id="22" name="Text 20"/>
          <p:cNvSpPr/>
          <p:nvPr/>
        </p:nvSpPr>
        <p:spPr>
          <a:xfrm>
            <a:off x="6355080" y="2999232"/>
            <a:ext cx="1463040" cy="457200"/>
          </a:xfrm>
          <a:prstGeom prst="rect">
            <a:avLst/>
          </a:prstGeom>
          <a:noFill/>
          <a:ln/>
        </p:spPr>
        <p:txBody>
          <a:bodyPr wrap="square" rtlCol="0" anchor="ctr"/>
          <a:lstStyle/>
          <a:p>
            <a:pPr indent="0" marL="0">
              <a:buNone/>
            </a:pPr>
            <a:r>
              <a:rPr lang="en-US" sz="2200" b="1" dirty="0">
                <a:solidFill>
                  <a:srgbClr val="0F9D58"/>
                </a:solidFill>
              </a:rPr>
              <a:t>0</a:t>
            </a:r>
            <a:endParaRPr lang="en-US" sz="2200" dirty="0"/>
          </a:p>
        </p:txBody>
      </p:sp>
      <p:sp>
        <p:nvSpPr>
          <p:cNvPr id="23" name="Text 21"/>
          <p:cNvSpPr/>
          <p:nvPr/>
        </p:nvSpPr>
        <p:spPr>
          <a:xfrm>
            <a:off x="4663440" y="3493008"/>
            <a:ext cx="3931920" cy="256032"/>
          </a:xfrm>
          <a:prstGeom prst="rect">
            <a:avLst/>
          </a:prstGeom>
          <a:noFill/>
          <a:ln/>
        </p:spPr>
        <p:txBody>
          <a:bodyPr wrap="square" rtlCol="0" anchor="ctr"/>
          <a:lstStyle/>
          <a:p>
            <a:pPr indent="0" marL="0">
              <a:buNone/>
            </a:pPr>
            <a:r>
              <a:rPr lang="en-US" sz="900" dirty="0">
                <a:solidFill>
                  <a:srgbClr val="4A5C6D"/>
                </a:solidFill>
              </a:rPr>
              <a:t>mission store retention cap</a:t>
            </a:r>
            <a:endParaRPr lang="en-US" sz="9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Three gaps. One root cause.</a:t>
            </a:r>
            <a:endParaRPr lang="en-US" sz="2400" dirty="0"/>
          </a:p>
        </p:txBody>
      </p:sp>
      <p:sp>
        <p:nvSpPr>
          <p:cNvPr id="3" name="Text 1"/>
          <p:cNvSpPr/>
          <p:nvPr/>
        </p:nvSpPr>
        <p:spPr>
          <a:xfrm>
            <a:off x="457200" y="841248"/>
            <a:ext cx="8229600" cy="292608"/>
          </a:xfrm>
          <a:prstGeom prst="rect">
            <a:avLst/>
          </a:prstGeom>
          <a:noFill/>
          <a:ln/>
        </p:spPr>
        <p:txBody>
          <a:bodyPr wrap="square" rtlCol="0" anchor="ctr"/>
          <a:lstStyle/>
          <a:p>
            <a:pPr indent="0" marL="0">
              <a:buNone/>
            </a:pPr>
            <a:r>
              <a:rPr lang="en-US" sz="1200" dirty="0">
                <a:solidFill>
                  <a:srgbClr val="4A5C6D"/>
                </a:solidFill>
              </a:rPr>
              <a:t>Recorded with reproduction steps, deliberately not closed</a:t>
            </a:r>
            <a:endParaRPr lang="en-US" sz="1200" dirty="0"/>
          </a:p>
        </p:txBody>
      </p:sp>
      <p:sp>
        <p:nvSpPr>
          <p:cNvPr id="4" name="Shape 2"/>
          <p:cNvSpPr/>
          <p:nvPr/>
        </p:nvSpPr>
        <p:spPr>
          <a:xfrm>
            <a:off x="457200" y="1280160"/>
            <a:ext cx="8229600" cy="566928"/>
          </a:xfrm>
          <a:prstGeom prst="rect">
            <a:avLst/>
          </a:prstGeom>
          <a:solidFill>
            <a:srgbClr val="B00020"/>
          </a:solidFill>
          <a:ln/>
        </p:spPr>
      </p:sp>
      <p:sp>
        <p:nvSpPr>
          <p:cNvPr id="5" name="Text 3"/>
          <p:cNvSpPr/>
          <p:nvPr/>
        </p:nvSpPr>
        <p:spPr>
          <a:xfrm>
            <a:off x="457200" y="1280160"/>
            <a:ext cx="8229600" cy="566928"/>
          </a:xfrm>
          <a:prstGeom prst="rect">
            <a:avLst/>
          </a:prstGeom>
          <a:noFill/>
          <a:ln/>
        </p:spPr>
        <p:txBody>
          <a:bodyPr wrap="square" rtlCol="0" anchor="ctr"/>
          <a:lstStyle/>
          <a:p>
            <a:pPr algn="ctr" indent="0" marL="0">
              <a:buNone/>
            </a:pPr>
            <a:r>
              <a:rPr lang="en-US" sz="1300" b="1" dirty="0">
                <a:solidFill>
                  <a:srgbClr val="FFFFFF"/>
                </a:solidFill>
              </a:rPr>
              <a:t>Three storage models were built before multi-tenancy existed. None carries an ownership dimension.</a:t>
            </a:r>
            <a:endParaRPr lang="en-US" sz="1300" dirty="0"/>
          </a:p>
        </p:txBody>
      </p:sp>
      <p:sp>
        <p:nvSpPr>
          <p:cNvPr id="6" name="Shape 4"/>
          <p:cNvSpPr/>
          <p:nvPr/>
        </p:nvSpPr>
        <p:spPr>
          <a:xfrm>
            <a:off x="457200" y="2057400"/>
            <a:ext cx="2615184" cy="1828800"/>
          </a:xfrm>
          <a:prstGeom prst="rect">
            <a:avLst/>
          </a:prstGeom>
          <a:solidFill>
            <a:srgbClr val="FBE9EC"/>
          </a:solidFill>
          <a:ln w="15875">
            <a:solidFill>
              <a:srgbClr val="B00020"/>
            </a:solidFill>
            <a:prstDash val="solid"/>
          </a:ln>
        </p:spPr>
      </p:sp>
      <p:sp>
        <p:nvSpPr>
          <p:cNvPr id="7" name="Text 5"/>
          <p:cNvSpPr/>
          <p:nvPr/>
        </p:nvSpPr>
        <p:spPr>
          <a:xfrm>
            <a:off x="594360" y="2176272"/>
            <a:ext cx="2340864" cy="256032"/>
          </a:xfrm>
          <a:prstGeom prst="rect">
            <a:avLst/>
          </a:prstGeom>
          <a:noFill/>
          <a:ln/>
        </p:spPr>
        <p:txBody>
          <a:bodyPr wrap="square" rtlCol="0" anchor="ctr"/>
          <a:lstStyle/>
          <a:p>
            <a:pPr indent="0" marL="0">
              <a:buNone/>
            </a:pPr>
            <a:r>
              <a:rPr lang="en-US" sz="1100" b="1" dirty="0">
                <a:solidFill>
                  <a:srgbClr val="B00020"/>
                </a:solidFill>
              </a:rPr>
              <a:t>G1-B15</a:t>
            </a:r>
            <a:endParaRPr lang="en-US" sz="1100" dirty="0"/>
          </a:p>
        </p:txBody>
      </p:sp>
      <p:sp>
        <p:nvSpPr>
          <p:cNvPr id="8" name="Text 6"/>
          <p:cNvSpPr/>
          <p:nvPr/>
        </p:nvSpPr>
        <p:spPr>
          <a:xfrm>
            <a:off x="594360" y="2432304"/>
            <a:ext cx="2340864" cy="548640"/>
          </a:xfrm>
          <a:prstGeom prst="rect">
            <a:avLst/>
          </a:prstGeom>
          <a:noFill/>
          <a:ln/>
        </p:spPr>
        <p:txBody>
          <a:bodyPr wrap="square" rtlCol="0" anchor="ctr"/>
          <a:lstStyle/>
          <a:p>
            <a:pPr indent="0" marL="0">
              <a:buNone/>
            </a:pPr>
            <a:r>
              <a:rPr lang="en-US" sz="1000" b="1" dirty="0">
                <a:solidFill>
                  <a:srgbClr val="0B1F33"/>
                </a:solidFill>
              </a:rPr>
              <a:t>Legacy ticket store cross-tenant readable/writable</a:t>
            </a:r>
            <a:endParaRPr lang="en-US" sz="1000" dirty="0"/>
          </a:p>
        </p:txBody>
      </p:sp>
      <p:sp>
        <p:nvSpPr>
          <p:cNvPr id="9" name="Text 7"/>
          <p:cNvSpPr/>
          <p:nvPr/>
        </p:nvSpPr>
        <p:spPr>
          <a:xfrm>
            <a:off x="594360" y="2962656"/>
            <a:ext cx="2340864" cy="640080"/>
          </a:xfrm>
          <a:prstGeom prst="rect">
            <a:avLst/>
          </a:prstGeom>
          <a:noFill/>
          <a:ln/>
        </p:spPr>
        <p:txBody>
          <a:bodyPr wrap="square" rtlCol="0" anchor="ctr"/>
          <a:lstStyle/>
          <a:p>
            <a:pPr indent="0" marL="0">
              <a:buNone/>
            </a:pPr>
            <a:r>
              <a:rPr lang="en-US" sz="800" dirty="0">
                <a:solidFill>
                  <a:srgbClr val="0B1F33"/>
                </a:solidFill>
              </a:rPr>
              <a:t>customerSupportEngine.cjs contains zero orgId occurrences; createTicket() has no ownership parameter. 190 tickets affected.</a:t>
            </a:r>
            <a:endParaRPr lang="en-US" sz="800" dirty="0"/>
          </a:p>
        </p:txBody>
      </p:sp>
      <p:sp>
        <p:nvSpPr>
          <p:cNvPr id="10" name="Text 8"/>
          <p:cNvSpPr/>
          <p:nvPr/>
        </p:nvSpPr>
        <p:spPr>
          <a:xfrm>
            <a:off x="594360" y="3611880"/>
            <a:ext cx="2340864" cy="201168"/>
          </a:xfrm>
          <a:prstGeom prst="rect">
            <a:avLst/>
          </a:prstGeom>
          <a:noFill/>
          <a:ln/>
        </p:spPr>
        <p:txBody>
          <a:bodyPr wrap="square" rtlCol="0" anchor="ctr"/>
          <a:lstStyle/>
          <a:p>
            <a:pPr indent="0" marL="0">
              <a:buNone/>
            </a:pPr>
            <a:r>
              <a:rPr lang="en-US" sz="800" b="1" dirty="0">
                <a:solidFill>
                  <a:srgbClr val="4A5C6D"/>
                </a:solidFill>
              </a:rPr>
              <a:t>Closes in B.21</a:t>
            </a:r>
            <a:endParaRPr lang="en-US" sz="800" dirty="0"/>
          </a:p>
        </p:txBody>
      </p:sp>
      <p:sp>
        <p:nvSpPr>
          <p:cNvPr id="11" name="Shape 9"/>
          <p:cNvSpPr/>
          <p:nvPr/>
        </p:nvSpPr>
        <p:spPr>
          <a:xfrm>
            <a:off x="3264408" y="2057400"/>
            <a:ext cx="2615184" cy="1828800"/>
          </a:xfrm>
          <a:prstGeom prst="rect">
            <a:avLst/>
          </a:prstGeom>
          <a:solidFill>
            <a:srgbClr val="FBE9EC"/>
          </a:solidFill>
          <a:ln w="15875">
            <a:solidFill>
              <a:srgbClr val="B00020"/>
            </a:solidFill>
            <a:prstDash val="solid"/>
          </a:ln>
        </p:spPr>
      </p:sp>
      <p:sp>
        <p:nvSpPr>
          <p:cNvPr id="12" name="Text 10"/>
          <p:cNvSpPr/>
          <p:nvPr/>
        </p:nvSpPr>
        <p:spPr>
          <a:xfrm>
            <a:off x="3401568" y="2176272"/>
            <a:ext cx="2340864" cy="256032"/>
          </a:xfrm>
          <a:prstGeom prst="rect">
            <a:avLst/>
          </a:prstGeom>
          <a:noFill/>
          <a:ln/>
        </p:spPr>
        <p:txBody>
          <a:bodyPr wrap="square" rtlCol="0" anchor="ctr"/>
          <a:lstStyle/>
          <a:p>
            <a:pPr indent="0" marL="0">
              <a:buNone/>
            </a:pPr>
            <a:r>
              <a:rPr lang="en-US" sz="1100" b="1" dirty="0">
                <a:solidFill>
                  <a:srgbClr val="B00020"/>
                </a:solidFill>
              </a:rPr>
              <a:t>G1-B16</a:t>
            </a:r>
            <a:endParaRPr lang="en-US" sz="1100" dirty="0"/>
          </a:p>
        </p:txBody>
      </p:sp>
      <p:sp>
        <p:nvSpPr>
          <p:cNvPr id="13" name="Text 11"/>
          <p:cNvSpPr/>
          <p:nvPr/>
        </p:nvSpPr>
        <p:spPr>
          <a:xfrm>
            <a:off x="3401568" y="2432304"/>
            <a:ext cx="2340864" cy="548640"/>
          </a:xfrm>
          <a:prstGeom prst="rect">
            <a:avLst/>
          </a:prstGeom>
          <a:noFill/>
          <a:ln/>
        </p:spPr>
        <p:txBody>
          <a:bodyPr wrap="square" rtlCol="0" anchor="ctr"/>
          <a:lstStyle/>
          <a:p>
            <a:pPr indent="0" marL="0">
              <a:buNone/>
            </a:pPr>
            <a:r>
              <a:rPr lang="en-US" sz="1000" b="1" dirty="0">
                <a:solidFill>
                  <a:srgbClr val="0B1F33"/>
                </a:solidFill>
              </a:rPr>
              <a:t>Customer engines discard org scoping</a:t>
            </a:r>
            <a:endParaRPr lang="en-US" sz="1000" dirty="0"/>
          </a:p>
        </p:txBody>
      </p:sp>
      <p:sp>
        <p:nvSpPr>
          <p:cNvPr id="14" name="Text 12"/>
          <p:cNvSpPr/>
          <p:nvPr/>
        </p:nvSpPr>
        <p:spPr>
          <a:xfrm>
            <a:off x="3401568" y="2962656"/>
            <a:ext cx="2340864" cy="640080"/>
          </a:xfrm>
          <a:prstGeom prst="rect">
            <a:avLst/>
          </a:prstGeom>
          <a:noFill/>
          <a:ln/>
        </p:spPr>
        <p:txBody>
          <a:bodyPr wrap="square" rtlCol="0" anchor="ctr"/>
          <a:lstStyle/>
          <a:p>
            <a:pPr indent="0" marL="0">
              <a:buNone/>
            </a:pPr>
            <a:r>
              <a:rPr lang="en-US" sz="800" dirty="0">
                <a:solidFill>
                  <a:srgbClr val="0B1F33"/>
                </a:solidFill>
              </a:rPr>
              <a:t>All five customer engines contain zero orgId occurrences; 0 of 123 stored customer records carry an owner. Org B read Org A's customer name and phone number.</a:t>
            </a:r>
            <a:endParaRPr lang="en-US" sz="800" dirty="0"/>
          </a:p>
        </p:txBody>
      </p:sp>
      <p:sp>
        <p:nvSpPr>
          <p:cNvPr id="15" name="Text 13"/>
          <p:cNvSpPr/>
          <p:nvPr/>
        </p:nvSpPr>
        <p:spPr>
          <a:xfrm>
            <a:off x="3401568" y="3611880"/>
            <a:ext cx="2340864" cy="201168"/>
          </a:xfrm>
          <a:prstGeom prst="rect">
            <a:avLst/>
          </a:prstGeom>
          <a:noFill/>
          <a:ln/>
        </p:spPr>
        <p:txBody>
          <a:bodyPr wrap="square" rtlCol="0" anchor="ctr"/>
          <a:lstStyle/>
          <a:p>
            <a:pPr indent="0" marL="0">
              <a:buNone/>
            </a:pPr>
            <a:r>
              <a:rPr lang="en-US" sz="800" b="1" dirty="0">
                <a:solidFill>
                  <a:srgbClr val="4A5C6D"/>
                </a:solidFill>
              </a:rPr>
              <a:t>Closes in B.23</a:t>
            </a:r>
            <a:endParaRPr lang="en-US" sz="800" dirty="0"/>
          </a:p>
        </p:txBody>
      </p:sp>
      <p:sp>
        <p:nvSpPr>
          <p:cNvPr id="16" name="Shape 14"/>
          <p:cNvSpPr/>
          <p:nvPr/>
        </p:nvSpPr>
        <p:spPr>
          <a:xfrm>
            <a:off x="6071616" y="2057400"/>
            <a:ext cx="2615184" cy="1828800"/>
          </a:xfrm>
          <a:prstGeom prst="rect">
            <a:avLst/>
          </a:prstGeom>
          <a:solidFill>
            <a:srgbClr val="FBE9EC"/>
          </a:solidFill>
          <a:ln w="15875">
            <a:solidFill>
              <a:srgbClr val="B00020"/>
            </a:solidFill>
            <a:prstDash val="solid"/>
          </a:ln>
        </p:spPr>
      </p:sp>
      <p:sp>
        <p:nvSpPr>
          <p:cNvPr id="17" name="Text 15"/>
          <p:cNvSpPr/>
          <p:nvPr/>
        </p:nvSpPr>
        <p:spPr>
          <a:xfrm>
            <a:off x="6208776" y="2176272"/>
            <a:ext cx="2340864" cy="256032"/>
          </a:xfrm>
          <a:prstGeom prst="rect">
            <a:avLst/>
          </a:prstGeom>
          <a:noFill/>
          <a:ln/>
        </p:spPr>
        <p:txBody>
          <a:bodyPr wrap="square" rtlCol="0" anchor="ctr"/>
          <a:lstStyle/>
          <a:p>
            <a:pPr indent="0" marL="0">
              <a:buNone/>
            </a:pPr>
            <a:r>
              <a:rPr lang="en-US" sz="1100" b="1" dirty="0">
                <a:solidFill>
                  <a:srgbClr val="B00020"/>
                </a:solidFill>
              </a:rPr>
              <a:t>G1-B17</a:t>
            </a:r>
            <a:endParaRPr lang="en-US" sz="1100" dirty="0"/>
          </a:p>
        </p:txBody>
      </p:sp>
      <p:sp>
        <p:nvSpPr>
          <p:cNvPr id="18" name="Text 16"/>
          <p:cNvSpPr/>
          <p:nvPr/>
        </p:nvSpPr>
        <p:spPr>
          <a:xfrm>
            <a:off x="6208776" y="2432304"/>
            <a:ext cx="2340864" cy="548640"/>
          </a:xfrm>
          <a:prstGeom prst="rect">
            <a:avLst/>
          </a:prstGeom>
          <a:noFill/>
          <a:ln/>
        </p:spPr>
        <p:txBody>
          <a:bodyPr wrap="square" rtlCol="0" anchor="ctr"/>
          <a:lstStyle/>
          <a:p>
            <a:pPr indent="0" marL="0">
              <a:buNone/>
            </a:pPr>
            <a:r>
              <a:rPr lang="en-US" sz="1000" b="1" dirty="0">
                <a:solidFill>
                  <a:srgbClr val="0B1F33"/>
                </a:solidFill>
              </a:rPr>
              <a:t>No ownership transfer operation exists</a:t>
            </a:r>
            <a:endParaRPr lang="en-US" sz="1000" dirty="0"/>
          </a:p>
        </p:txBody>
      </p:sp>
      <p:sp>
        <p:nvSpPr>
          <p:cNvPr id="19" name="Text 17"/>
          <p:cNvSpPr/>
          <p:nvPr/>
        </p:nvSpPr>
        <p:spPr>
          <a:xfrm>
            <a:off x="6208776" y="2962656"/>
            <a:ext cx="2340864" cy="640080"/>
          </a:xfrm>
          <a:prstGeom prst="rect">
            <a:avLst/>
          </a:prstGeom>
          <a:noFill/>
          <a:ln/>
        </p:spPr>
        <p:txBody>
          <a:bodyPr wrap="square" rtlCol="0" anchor="ctr"/>
          <a:lstStyle/>
          <a:p>
            <a:pPr indent="0" marL="0">
              <a:buNone/>
            </a:pPr>
            <a:r>
              <a:rPr lang="en-US" sz="800" dirty="0">
                <a:solidFill>
                  <a:srgbClr val="0B1F33"/>
                </a:solidFill>
              </a:rPr>
              <a:t>Both removeMember() and updateMemberRole() guards demand transfer-ownership-first, but no such operation exists. No member suspend/restore either.</a:t>
            </a:r>
            <a:endParaRPr lang="en-US" sz="800" dirty="0"/>
          </a:p>
        </p:txBody>
      </p:sp>
      <p:sp>
        <p:nvSpPr>
          <p:cNvPr id="20" name="Text 18"/>
          <p:cNvSpPr/>
          <p:nvPr/>
        </p:nvSpPr>
        <p:spPr>
          <a:xfrm>
            <a:off x="6208776" y="3611880"/>
            <a:ext cx="2340864" cy="201168"/>
          </a:xfrm>
          <a:prstGeom prst="rect">
            <a:avLst/>
          </a:prstGeom>
          <a:noFill/>
          <a:ln/>
        </p:spPr>
        <p:txBody>
          <a:bodyPr wrap="square" rtlCol="0" anchor="ctr"/>
          <a:lstStyle/>
          <a:p>
            <a:pPr indent="0" marL="0">
              <a:buNone/>
            </a:pPr>
            <a:r>
              <a:rPr lang="en-US" sz="800" b="1" dirty="0">
                <a:solidFill>
                  <a:srgbClr val="4A5C6D"/>
                </a:solidFill>
              </a:rPr>
              <a:t>Closes in B.25</a:t>
            </a:r>
            <a:endParaRPr lang="en-US" sz="8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Master audit register — executed</a:t>
            </a:r>
            <a:endParaRPr lang="en-US" sz="2400" dirty="0"/>
          </a:p>
        </p:txBody>
      </p:sp>
      <p:sp>
        <p:nvSpPr>
          <p:cNvPr id="3" name="Text 1"/>
          <p:cNvSpPr/>
          <p:nvPr/>
        </p:nvSpPr>
        <p:spPr>
          <a:xfrm>
            <a:off x="457200" y="841248"/>
            <a:ext cx="8229600" cy="292608"/>
          </a:xfrm>
          <a:prstGeom prst="rect">
            <a:avLst/>
          </a:prstGeom>
          <a:noFill/>
          <a:ln/>
        </p:spPr>
        <p:txBody>
          <a:bodyPr wrap="square" rtlCol="0" anchor="ctr"/>
          <a:lstStyle/>
          <a:p>
            <a:pPr indent="0" marL="0">
              <a:buNone/>
            </a:pPr>
            <a:r>
              <a:rPr lang="en-US" sz="1200" dirty="0">
                <a:solidFill>
                  <a:srgbClr val="4A5C6D"/>
                </a:solidFill>
              </a:rPr>
              <a:t>Every row traces to a committed certification document or commit</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640080"/>
                <a:gridCol w="3657600"/>
                <a:gridCol w="2011680"/>
                <a:gridCol w="731520"/>
                <a:gridCol w="1188720"/>
              </a:tblGrid>
              <a:tr h="0">
                <a:tc>
                  <a:txBody>
                    <a:bodyPr/>
                    <a:lstStyle/>
                    <a:p>
                      <a:pPr indent="0" marL="0">
                        <a:buNone/>
                      </a:pPr>
                      <a:r>
                        <a:rPr lang="en-US" sz="900" b="1" dirty="0">
                          <a:solidFill>
                            <a:srgbClr val="FFFFFF"/>
                          </a:solidFill>
                        </a:rPr>
                        <a:t>ID</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rPr>
                        <a:t>Audit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rPr>
                        <a:t>Verdict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algn="r" indent="0" marL="0">
                        <a:buNone/>
                      </a:pPr>
                      <a:r>
                        <a:rPr lang="en-US" sz="900" b="1" dirty="0">
                          <a:solidFill>
                            <a:srgbClr val="FFFFFF"/>
                          </a:solidFill>
                        </a:rPr>
                        <a:t>Score</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algn="r" indent="0" marL="0">
                        <a:buNone/>
                      </a:pPr>
                      <a:r>
                        <a:rPr lang="en-US" sz="900" b="1" dirty="0">
                          <a:solidFill>
                            <a:srgbClr val="FFFFFF"/>
                          </a:solidFill>
                        </a:rPr>
                        <a:t>C/H/M/L</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r>
              <a:tr h="0">
                <a:tc>
                  <a:txBody>
                    <a:bodyPr/>
                    <a:lstStyle/>
                    <a:p>
                      <a:pPr indent="0" marL="0">
                        <a:buNone/>
                      </a:pPr>
                      <a:r>
                        <a:rPr lang="en-US" sz="900" b="1" dirty="0">
                          <a:solidFill>
                            <a:srgbClr val="0B1F33"/>
                          </a:solidFill>
                        </a:rPr>
                        <a:t>A.1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Founder Reality Recertification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2/0/0/0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A.4</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Navigation &amp; Discoverability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1/2/1/0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A.5</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Runtime Load &amp; AI Honesty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1/2/1/0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A.6</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Founder Journey Integrity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0/5/5/0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A.7</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Growth &amp; Creative Operations</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0/2/1/0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A.8</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Operator Console Stability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2/1/1/0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A.9</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Tenant Isolation Verification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1/0/0/0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A.10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Action Recovery Sweep</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0/6/2/0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A.11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Cross-Product Consistency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0/4/8/4</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A.13</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Category Vocabulary Recovery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0/0/1/1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Runtime Performance &amp; Provider Failover</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1/1/0/0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B.4</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Enterprise Security Validation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0/0/0/0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bl>
          </a:graphicData>
        </a:graphic>
      </p:graphicFrame>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Master audit register — executed (cont.)</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640080"/>
                <a:gridCol w="3657600"/>
                <a:gridCol w="2011680"/>
                <a:gridCol w="731520"/>
                <a:gridCol w="1188720"/>
              </a:tblGrid>
              <a:tr h="0">
                <a:tc>
                  <a:txBody>
                    <a:bodyPr/>
                    <a:lstStyle/>
                    <a:p>
                      <a:pPr indent="0" marL="0">
                        <a:buNone/>
                      </a:pPr>
                      <a:r>
                        <a:rPr lang="en-US" sz="900" b="1" dirty="0">
                          <a:solidFill>
                            <a:srgbClr val="FFFFFF"/>
                          </a:solidFill>
                        </a:rPr>
                        <a:t>ID</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rPr>
                        <a:t>Audit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rPr>
                        <a:t>Verdict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algn="r" indent="0" marL="0">
                        <a:buNone/>
                      </a:pPr>
                      <a:r>
                        <a:rPr lang="en-US" sz="900" b="1" dirty="0">
                          <a:solidFill>
                            <a:srgbClr val="FFFFFF"/>
                          </a:solidFill>
                        </a:rPr>
                        <a:t>Score</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algn="r" indent="0" marL="0">
                        <a:buNone/>
                      </a:pPr>
                      <a:r>
                        <a:rPr lang="en-US" sz="900" b="1" dirty="0">
                          <a:solidFill>
                            <a:srgbClr val="FFFFFF"/>
                          </a:solidFill>
                        </a:rPr>
                        <a:t>C/H/M/L</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r>
              <a:tr h="0">
                <a:tc>
                  <a:txBody>
                    <a:bodyPr/>
                    <a:lstStyle/>
                    <a:p>
                      <a:pPr indent="0" marL="0">
                        <a:buNone/>
                      </a:pPr>
                      <a:r>
                        <a:rPr lang="en-US" sz="900" b="1" dirty="0">
                          <a:solidFill>
                            <a:srgbClr val="0B1F33"/>
                          </a:solidFill>
                        </a:rPr>
                        <a:t>B.5</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Disaster Recovery &amp; Continuity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2/1/0/0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B.6</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Database &amp; Persistence</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0/0/1/0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B.7</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API Certification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7.6</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1/1/0/0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B.8</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DevOps Certification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8.1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1/1/3/0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B.9</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AI Intelligence Certification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8.6</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0/1/0/0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Memory Certification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8.7</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1/1/0/0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B.11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Agent Certification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8.7</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1/1/0/0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B.12</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Knowledge System Certification</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1/1/0/0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B.13</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Automation &amp; Workflow OS</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8.7</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0/1/0/0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B.14</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Finance Operations</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0/1/1/0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B.15</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Support Operations</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1/1/1/0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B.16</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Customer Operations</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0/2/3/0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bl>
          </a:graphicData>
        </a:graphic>
      </p:graphicFrame>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Master audit register — executed (cont.)</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640080"/>
                <a:gridCol w="3657600"/>
                <a:gridCol w="2011680"/>
                <a:gridCol w="731520"/>
                <a:gridCol w="1188720"/>
              </a:tblGrid>
              <a:tr h="0">
                <a:tc>
                  <a:txBody>
                    <a:bodyPr/>
                    <a:lstStyle/>
                    <a:p>
                      <a:pPr indent="0" marL="0">
                        <a:buNone/>
                      </a:pPr>
                      <a:r>
                        <a:rPr lang="en-US" sz="900" b="1" dirty="0">
                          <a:solidFill>
                            <a:srgbClr val="FFFFFF"/>
                          </a:solidFill>
                        </a:rPr>
                        <a:t>ID</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rPr>
                        <a:t>Audit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indent="0" marL="0">
                        <a:buNone/>
                      </a:pPr>
                      <a:r>
                        <a:rPr lang="en-US" sz="900" b="1" dirty="0">
                          <a:solidFill>
                            <a:srgbClr val="FFFFFF"/>
                          </a:solidFill>
                        </a:rPr>
                        <a:t>Verdict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algn="r" indent="0" marL="0">
                        <a:buNone/>
                      </a:pPr>
                      <a:r>
                        <a:rPr lang="en-US" sz="900" b="1" dirty="0">
                          <a:solidFill>
                            <a:srgbClr val="FFFFFF"/>
                          </a:solidFill>
                        </a:rPr>
                        <a:t>Score</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c>
                  <a:txBody>
                    <a:bodyPr/>
                    <a:lstStyle/>
                    <a:p>
                      <a:pPr algn="r" indent="0" marL="0">
                        <a:buNone/>
                      </a:pPr>
                      <a:r>
                        <a:rPr lang="en-US" sz="900" b="1" dirty="0">
                          <a:solidFill>
                            <a:srgbClr val="FFFFFF"/>
                          </a:solidFill>
                        </a:rPr>
                        <a:t>C/H/M/L</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1F4E79"/>
                    </a:solidFill>
                  </a:tcPr>
                </a:tc>
              </a:tr>
              <a:tr h="0">
                <a:tc>
                  <a:txBody>
                    <a:bodyPr/>
                    <a:lstStyle/>
                    <a:p>
                      <a:pPr indent="0" marL="0">
                        <a:buNone/>
                      </a:pPr>
                      <a:r>
                        <a:rPr lang="en-US" sz="900" b="1" dirty="0">
                          <a:solidFill>
                            <a:srgbClr val="0B1F33"/>
                          </a:solidFill>
                        </a:rPr>
                        <a:t>B.17</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Team &amp; Workforce</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1/0/0/0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B.18</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Business Continuity &amp; Resilience</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B.18.1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Autonomous Runtime Recovery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0/1/0/0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B.19</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Accessibility &amp; Inclusive UX — Baseline</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B00020"/>
                          </a:solidFill>
                        </a:rPr>
                        <a:t>NOT 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0/1/0/0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B.19.1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Accessibility Foundation Recovery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0F9D58"/>
                          </a:solidFill>
                        </a:rPr>
                        <a:t>CERTIFIED</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0/3/3/0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0B1F33"/>
                          </a:solidFill>
                        </a:rPr>
                        <a:t>B.19.2</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00" dirty="0">
                          <a:solidFill>
                            <a:srgbClr val="0B1F33"/>
                          </a:solidFill>
                        </a:rPr>
                        <a:t>Visual Accessibility Recovery</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9.0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00" dirty="0">
                          <a:solidFill>
                            <a:srgbClr val="0B1F33"/>
                          </a:solidFill>
                        </a:rPr>
                        <a:t>0/8/8/0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00" b="1" dirty="0">
                          <a:solidFill>
                            <a:srgbClr val="0B1F33"/>
                          </a:solidFill>
                        </a:rPr>
                        <a:t>B.19.2.1</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00" dirty="0">
                          <a:solidFill>
                            <a:srgbClr val="0B1F33"/>
                          </a:solidFill>
                        </a:rPr>
                        <a:t>Visual Accessibility Recovery — Final</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50" dirty="0">
                          <a:solidFill>
                            <a:srgbClr val="C55A11"/>
                          </a:solidFill>
                        </a:rPr>
                        <a:t>CERT. W/ LIMITS</a:t>
                      </a:r>
                      <a:endParaRPr lang="en-US" sz="8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8.5</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00" dirty="0">
                          <a:solidFill>
                            <a:srgbClr val="0B1F33"/>
                          </a:solidFill>
                        </a:rPr>
                        <a:t>0/2/3/0</a:t>
                      </a:r>
                      <a:endParaRPr lang="en-US" sz="9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400" b="1" dirty="0">
                <a:solidFill>
                  <a:srgbClr val="0B1F33"/>
                </a:solidFill>
                <a:latin typeface="Georgia" pitchFamily="34" charset="0"/>
                <a:ea typeface="Georgia" pitchFamily="34" charset="-122"/>
                <a:cs typeface="Georgia" pitchFamily="34" charset="-120"/>
              </a:rPr>
              <a:t>Master audit register — planned</a:t>
            </a:r>
            <a:endParaRPr lang="en-US" sz="2400" dirty="0"/>
          </a:p>
        </p:txBody>
      </p:sp>
      <p:sp>
        <p:nvSpPr>
          <p:cNvPr id="3" name="Text 1"/>
          <p:cNvSpPr/>
          <p:nvPr/>
        </p:nvSpPr>
        <p:spPr>
          <a:xfrm>
            <a:off x="457200" y="841248"/>
            <a:ext cx="8229600" cy="292608"/>
          </a:xfrm>
          <a:prstGeom prst="rect">
            <a:avLst/>
          </a:prstGeom>
          <a:noFill/>
          <a:ln/>
        </p:spPr>
        <p:txBody>
          <a:bodyPr wrap="square" rtlCol="0" anchor="ctr"/>
          <a:lstStyle/>
          <a:p>
            <a:pPr indent="0" marL="0">
              <a:buNone/>
            </a:pPr>
            <a:r>
              <a:rPr lang="en-US" sz="1200" dirty="0">
                <a:solidFill>
                  <a:srgbClr val="4A5C6D"/>
                </a:solidFill>
              </a:rPr>
              <a:t>Not executed. No score, no findings, no evidence exists.</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40080"/>
                <a:gridCol w="2743200"/>
                <a:gridCol w="640080"/>
                <a:gridCol w="4206240"/>
              </a:tblGrid>
              <a:tr h="0">
                <a:tc>
                  <a:txBody>
                    <a:bodyPr/>
                    <a:lstStyle/>
                    <a:p>
                      <a:pPr indent="0" marL="0">
                        <a:buNone/>
                      </a:pPr>
                      <a:r>
                        <a:rPr lang="en-US" sz="950" b="1" dirty="0">
                          <a:solidFill>
                            <a:srgbClr val="FFFFFF"/>
                          </a:solidFill>
                        </a:rPr>
                        <a:t>ID</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8A96A3"/>
                    </a:solidFill>
                  </a:tcPr>
                </a:tc>
                <a:tc>
                  <a:txBody>
                    <a:bodyPr/>
                    <a:lstStyle/>
                    <a:p>
                      <a:pPr indent="0" marL="0">
                        <a:buNone/>
                      </a:pPr>
                      <a:r>
                        <a:rPr lang="en-US" sz="950" b="1" dirty="0">
                          <a:solidFill>
                            <a:srgbClr val="FFFFFF"/>
                          </a:solidFill>
                        </a:rPr>
                        <a:t>Audit</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8A96A3"/>
                    </a:solidFill>
                  </a:tcPr>
                </a:tc>
                <a:tc>
                  <a:txBody>
                    <a:bodyPr/>
                    <a:lstStyle/>
                    <a:p>
                      <a:pPr algn="r" indent="0" marL="0">
                        <a:buNone/>
                      </a:pPr>
                      <a:r>
                        <a:rPr lang="en-US" sz="950" b="1" dirty="0">
                          <a:solidFill>
                            <a:srgbClr val="FFFFFF"/>
                          </a:solidFill>
                        </a:rPr>
                        <a:t>Score</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8A96A3"/>
                    </a:solidFill>
                  </a:tcPr>
                </a:tc>
                <a:tc>
                  <a:txBody>
                    <a:bodyPr/>
                    <a:lstStyle/>
                    <a:p>
                      <a:pPr indent="0" marL="0">
                        <a:buNone/>
                      </a:pPr>
                      <a:r>
                        <a:rPr lang="en-US" sz="950" b="1" dirty="0">
                          <a:solidFill>
                            <a:srgbClr val="FFFFFF"/>
                          </a:solidFill>
                        </a:rPr>
                        <a:t>Entry criteria</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8A96A3"/>
                    </a:solidFill>
                  </a:tcPr>
                </a:tc>
              </a:tr>
              <a:tr h="0">
                <a:tc>
                  <a:txBody>
                    <a:bodyPr/>
                    <a:lstStyle/>
                    <a:p>
                      <a:pPr indent="0" marL="0">
                        <a:buNone/>
                      </a:pPr>
                      <a:r>
                        <a:rPr lang="en-US" sz="950" b="1" dirty="0">
                          <a:solidFill>
                            <a:srgbClr val="4A5C6D"/>
                          </a:solidFill>
                        </a:rPr>
                        <a:t>B.20</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50" dirty="0">
                          <a:solidFill>
                            <a:srgbClr val="4A5C6D"/>
                          </a:solidFill>
                        </a:rPr>
                        <a:t>Scalability &amp; Multi-Node Readiness</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C6D"/>
                          </a:solidFill>
                        </a:rPr>
                        <a:t>—</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00" dirty="0">
                          <a:solidFill>
                            <a:srgbClr val="4A5C6D"/>
                          </a:solidFill>
                        </a:rPr>
                        <a:t>B.6 migration framework exists; B.8 memory envelope stable under load</a:t>
                      </a:r>
                      <a:endParaRPr lang="en-US" sz="8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4A5C6D"/>
                          </a:solidFill>
                        </a:rPr>
                        <a:t>B.21</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50" dirty="0">
                          <a:solidFill>
                            <a:srgbClr val="4A5C6D"/>
                          </a:solidFill>
                        </a:rPr>
                        <a:t>Compliance &amp; Audit Trail</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50" dirty="0">
                          <a:solidFill>
                            <a:srgbClr val="4A5C6D"/>
                          </a:solidFill>
                        </a:rPr>
                        <a:t>—</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00" dirty="0">
                          <a:solidFill>
                            <a:srgbClr val="4A5C6D"/>
                          </a:solidFill>
                        </a:rPr>
                        <a:t>B.15 G2 remediated; B.16 actor attribution landed</a:t>
                      </a:r>
                      <a:endParaRPr lang="en-US" sz="8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50" b="1" dirty="0">
                          <a:solidFill>
                            <a:srgbClr val="4A5C6D"/>
                          </a:solidFill>
                        </a:rPr>
                        <a:t>B.22</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50" dirty="0">
                          <a:solidFill>
                            <a:srgbClr val="4A5C6D"/>
                          </a:solidFill>
                        </a:rPr>
                        <a:t>Integration &amp; Partner Ecosystem</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C6D"/>
                          </a:solidFill>
                        </a:rPr>
                        <a:t>—</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00" dirty="0">
                          <a:solidFill>
                            <a:srgbClr val="4A5C6D"/>
                          </a:solidFill>
                        </a:rPr>
                        <a:t>B.7 response envelope unified; Token auth for non-browser clients</a:t>
                      </a:r>
                      <a:endParaRPr lang="en-US" sz="8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4A5C6D"/>
                          </a:solidFill>
                        </a:rPr>
                        <a:t>B.23</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50" dirty="0">
                          <a:solidFill>
                            <a:srgbClr val="4A5C6D"/>
                          </a:solidFill>
                        </a:rPr>
                        <a:t>Data Governance &amp; Privacy</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50" dirty="0">
                          <a:solidFill>
                            <a:srgbClr val="4A5C6D"/>
                          </a:solidFill>
                        </a:rPr>
                        <a:t>—</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00" dirty="0">
                          <a:solidFill>
                            <a:srgbClr val="4A5C6D"/>
                          </a:solidFill>
                        </a:rPr>
                        <a:t>B.16 G1 org ownership threaded through customer engines</a:t>
                      </a:r>
                      <a:endParaRPr lang="en-US" sz="8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50" b="1" dirty="0">
                          <a:solidFill>
                            <a:srgbClr val="4A5C6D"/>
                          </a:solidFill>
                        </a:rPr>
                        <a:t>B.24</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50" dirty="0">
                          <a:solidFill>
                            <a:srgbClr val="4A5C6D"/>
                          </a:solidFill>
                        </a:rPr>
                        <a:t>Performance &amp; Capacity Certification</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C6D"/>
                          </a:solidFill>
                        </a:rPr>
                        <a:t>—</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00" dirty="0">
                          <a:solidFill>
                            <a:srgbClr val="4A5C6D"/>
                          </a:solidFill>
                        </a:rPr>
                        <a:t>B.18 G12 RTO/RPO published; B.20 scale envelope known</a:t>
                      </a:r>
                      <a:endParaRPr lang="en-US" sz="8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4A5C6D"/>
                          </a:solidFill>
                        </a:rPr>
                        <a:t>B.25</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950" dirty="0">
                          <a:solidFill>
                            <a:srgbClr val="4A5C6D"/>
                          </a:solidFill>
                        </a:rPr>
                        <a:t>Pre-Certification Readiness Gate</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algn="r" indent="0" marL="0">
                        <a:buNone/>
                      </a:pPr>
                      <a:r>
                        <a:rPr lang="en-US" sz="950" dirty="0">
                          <a:solidFill>
                            <a:srgbClr val="4A5C6D"/>
                          </a:solidFill>
                        </a:rPr>
                        <a:t>—</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c>
                  <a:txBody>
                    <a:bodyPr/>
                    <a:lstStyle/>
                    <a:p>
                      <a:pPr indent="0" marL="0">
                        <a:buNone/>
                      </a:pPr>
                      <a:r>
                        <a:rPr lang="en-US" sz="800" dirty="0">
                          <a:solidFill>
                            <a:srgbClr val="4A5C6D"/>
                          </a:solidFill>
                        </a:rPr>
                        <a:t>B.15 G1 closed; B.16 G1 closed; B.17 G1 closed; B.19.2.1 live-app contrast blocker closed (33 failures)</a:t>
                      </a:r>
                      <a:endParaRPr lang="en-US" sz="8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5F8FA"/>
                    </a:solidFill>
                  </a:tcPr>
                </a:tc>
              </a:tr>
              <a:tr h="0">
                <a:tc>
                  <a:txBody>
                    <a:bodyPr/>
                    <a:lstStyle/>
                    <a:p>
                      <a:pPr indent="0" marL="0">
                        <a:buNone/>
                      </a:pPr>
                      <a:r>
                        <a:rPr lang="en-US" sz="950" b="1" dirty="0">
                          <a:solidFill>
                            <a:srgbClr val="4A5C6D"/>
                          </a:solidFill>
                        </a:rPr>
                        <a:t>C</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950" dirty="0">
                          <a:solidFill>
                            <a:srgbClr val="4A5C6D"/>
                          </a:solidFill>
                        </a:rPr>
                        <a:t>Phase C — Production Certification &amp; Release</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algn="r" indent="0" marL="0">
                        <a:buNone/>
                      </a:pPr>
                      <a:r>
                        <a:rPr lang="en-US" sz="950" dirty="0">
                          <a:solidFill>
                            <a:srgbClr val="4A5C6D"/>
                          </a:solidFill>
                        </a:rPr>
                        <a:t>—</a:t>
                      </a:r>
                      <a:endParaRPr lang="en-US" sz="95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c>
                  <a:txBody>
                    <a:bodyPr/>
                    <a:lstStyle/>
                    <a:p>
                      <a:pPr indent="0" marL="0">
                        <a:buNone/>
                      </a:pPr>
                      <a:r>
                        <a:rPr lang="en-US" sz="800" dirty="0">
                          <a:solidFill>
                            <a:srgbClr val="4A5C6D"/>
                          </a:solidFill>
                        </a:rPr>
                        <a:t>B.20-B.25 all CERTIFIED; Zero residual CRITICAL gaps</a:t>
                      </a:r>
                      <a:endParaRPr lang="en-US" sz="800" dirty="0"/>
                    </a:p>
                  </a:txBody>
                  <a:tcPr marL="91440" marR="91440" marT="45720" marB="45720">
                    <a:lnL w="6350" cap="flat" cmpd="sng" algn="ctr">
                      <a:solidFill>
                        <a:srgbClr val="D8E0E7"/>
                      </a:solidFill>
                      <a:prstDash val="solid"/>
                      <a:round/>
                      <a:headEnd type="none" w="med" len="med"/>
                      <a:tailEnd type="none" w="med" len="med"/>
                    </a:lnL>
                    <a:lnR w="6350" cap="flat" cmpd="sng" algn="ctr">
                      <a:solidFill>
                        <a:srgbClr val="D8E0E7"/>
                      </a:solidFill>
                      <a:prstDash val="solid"/>
                      <a:round/>
                      <a:headEnd type="none" w="med" len="med"/>
                      <a:tailEnd type="none" w="med" len="med"/>
                    </a:lnR>
                    <a:lnT w="6350" cap="flat" cmpd="sng" algn="ctr">
                      <a:solidFill>
                        <a:srgbClr val="D8E0E7"/>
                      </a:solidFill>
                      <a:prstDash val="solid"/>
                      <a:round/>
                      <a:headEnd type="none" w="med" len="med"/>
                      <a:tailEnd type="none" w="med" len="med"/>
                    </a:lnT>
                    <a:lnB w="6350" cap="flat" cmpd="sng" algn="ctr">
                      <a:solidFill>
                        <a:srgbClr val="D8E0E7"/>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3886200"/>
            <a:ext cx="8229600" cy="274320"/>
          </a:xfrm>
          <a:prstGeom prst="rect">
            <a:avLst/>
          </a:prstGeom>
          <a:noFill/>
          <a:ln/>
        </p:spPr>
        <p:txBody>
          <a:bodyPr wrap="square" rtlCol="0" anchor="ctr"/>
          <a:lstStyle/>
          <a:p>
            <a:pPr indent="0" marL="0">
              <a:buNone/>
            </a:pPr>
            <a:r>
              <a:rPr lang="en-US" sz="1000" i="1" dirty="0">
                <a:solidFill>
                  <a:srgbClr val="4A5C6D"/>
                </a:solidFill>
              </a:rPr>
              <a:t>Every entry criterion traces to a measured finding in an executed audit.</a:t>
            </a:r>
            <a:endParaRPr lang="en-US" sz="1000" dirty="0"/>
          </a:p>
        </p:txBody>
      </p:sp>
      <p:sp>
        <p:nvSpPr>
          <p:cNvPr id="25" name="Slide Number Placeholder 0"/>
          <p:cNvSpPr>
            <a:spLocks noGrp="1"/>
          </p:cNvSpPr>
          <p:nvPr>
            <p:ph type="sldNum" sz="quarter" idx="4294967295"/>
          </p:nvPr>
        </p:nvSpPr>
        <p:spPr>
          <a:xfrm>
            <a:off x="8321040" y="4590288"/>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4A5C6D"/>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1920240"/>
            <a:ext cx="7863840" cy="82296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Measured, not asserted.</a:t>
            </a:r>
            <a:endParaRPr lang="en-US" sz="4000" dirty="0"/>
          </a:p>
        </p:txBody>
      </p:sp>
      <p:sp>
        <p:nvSpPr>
          <p:cNvPr id="3" name="Text 1"/>
          <p:cNvSpPr/>
          <p:nvPr/>
        </p:nvSpPr>
        <p:spPr>
          <a:xfrm>
            <a:off x="640080" y="2743200"/>
            <a:ext cx="7863840" cy="365760"/>
          </a:xfrm>
          <a:prstGeom prst="rect">
            <a:avLst/>
          </a:prstGeom>
          <a:noFill/>
          <a:ln/>
        </p:spPr>
        <p:txBody>
          <a:bodyPr wrap="square" rtlCol="0" anchor="ctr"/>
          <a:lstStyle/>
          <a:p>
            <a:pPr algn="ctr" indent="0" marL="0">
              <a:buNone/>
            </a:pPr>
            <a:r>
              <a:rPr lang="en-US" sz="1300" dirty="0">
                <a:solidFill>
                  <a:srgbClr val="FFFFFF">
                    <a:alpha val="65000"/>
                  </a:srgbClr>
                </a:solidFill>
              </a:rPr>
              <a:t>Ooplix V1 Master Audit Record · OPX-MAR-001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Ooplix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Ooplix V1 — Master Audit &amp; Certification Record</dc:title>
  <dc:subject>Confidential — Investor / Enterprise Due Diligence</dc:subject>
  <dc:creator>Ooplix Audit Programme</dc:creator>
  <cp:lastModifiedBy>Ooplix Audit Programme</cp:lastModifiedBy>
  <cp:revision>1</cp:revision>
  <dcterms:created xsi:type="dcterms:W3CDTF">2026-08-12T16:19:49Z</dcterms:created>
  <dcterms:modified xsi:type="dcterms:W3CDTF">2026-08-12T16:19:49Z</dcterms:modified>
</cp:coreProperties>
</file>